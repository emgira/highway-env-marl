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84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87" r:id="rId11"/>
    <p:sldId id="264" r:id="rId12"/>
    <p:sldId id="265" r:id="rId13"/>
    <p:sldId id="266" r:id="rId14"/>
    <p:sldId id="288" r:id="rId15"/>
    <p:sldId id="267" r:id="rId16"/>
    <p:sldId id="268" r:id="rId17"/>
    <p:sldId id="289" r:id="rId18"/>
    <p:sldId id="269" r:id="rId19"/>
    <p:sldId id="270" r:id="rId20"/>
    <p:sldId id="285" r:id="rId21"/>
    <p:sldId id="271" r:id="rId22"/>
    <p:sldId id="272" r:id="rId23"/>
    <p:sldId id="286" r:id="rId24"/>
    <p:sldId id="273" r:id="rId25"/>
    <p:sldId id="274" r:id="rId26"/>
    <p:sldId id="275" r:id="rId27"/>
    <p:sldId id="276" r:id="rId28"/>
    <p:sldId id="277" r:id="rId29"/>
    <p:sldId id="278" r:id="rId30"/>
    <p:sldId id="282" r:id="rId31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A2230"/>
    <a:srgbClr val="FAF7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6247" autoAdjust="0"/>
  </p:normalViewPr>
  <p:slideViewPr>
    <p:cSldViewPr snapToGrid="0" snapToObjects="1">
      <p:cViewPr varScale="1">
        <p:scale>
          <a:sx n="62" d="100"/>
          <a:sy n="62" d="100"/>
        </p:scale>
        <p:origin x="158" y="77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78106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2459A0-4706-353B-46E2-1F5D18136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A4FCD7-E07C-4A98-5512-11FD041716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78CC52-3004-9210-10E0-F5130AFCAC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5BE07B-9F3F-088C-DADE-F116C17251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821471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D8D1C6-D94C-7B2F-927F-A82EC7F35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5D0446-DC23-CF2F-5498-9F8AFE4A7E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3B0E8C-893B-21E7-C785-55EFC1F1CF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122F6A-E07C-768C-AAC0-D7212C0AE3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002423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64FD01-7D24-D7CF-0412-09D74E6EB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F6F76E-2B85-1FFA-0B87-B3817EC6E6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58D635-892C-808A-7936-3630955787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BFE81-37D9-8022-F4B0-459E8ADA01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057089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gi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gi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gif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gi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gif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18396" y="3518725"/>
            <a:ext cx="7479655" cy="2805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650" b="1" kern="0" spc="297" dirty="0">
                <a:solidFill>
                  <a:srgbClr val="4A3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</a:t>
            </a:r>
            <a:r>
              <a:rPr lang="it-IT" sz="1650" b="1" kern="0" spc="297" dirty="0">
                <a:solidFill>
                  <a:srgbClr val="4A3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VERONA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4918395" y="3815396"/>
            <a:ext cx="7479655" cy="2459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350" kern="0" spc="189" dirty="0">
                <a:solidFill>
                  <a:srgbClr val="A8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COMPUTER SCIENCE · BACHELOR'S DEGREE PROGRAM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779269" y="4463964"/>
            <a:ext cx="3757910" cy="2459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425" b="1" kern="0" spc="314" dirty="0">
                <a:solidFill>
                  <a:srgbClr val="7C1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BACHELOR'S THESIS</a:t>
            </a:r>
            <a:endParaRPr lang="en-US" sz="1425" dirty="0"/>
          </a:p>
        </p:txBody>
      </p:sp>
      <p:sp>
        <p:nvSpPr>
          <p:cNvPr id="5" name="Text 3"/>
          <p:cNvSpPr/>
          <p:nvPr/>
        </p:nvSpPr>
        <p:spPr>
          <a:xfrm>
            <a:off x="1398269" y="5235000"/>
            <a:ext cx="14519910" cy="1827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4350" b="1" kern="0" spc="-65" dirty="0">
                <a:solidFill>
                  <a:srgbClr val="221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Learning, coordination and generalization in Multi-Agent Reinforcement Learning: a comparison between IPPO, MAPPO and MASAC</a:t>
            </a:r>
            <a:endParaRPr lang="en-US" sz="4350" dirty="0"/>
          </a:p>
        </p:txBody>
      </p:sp>
      <p:sp>
        <p:nvSpPr>
          <p:cNvPr id="6" name="Shape 4"/>
          <p:cNvSpPr/>
          <p:nvPr/>
        </p:nvSpPr>
        <p:spPr>
          <a:xfrm>
            <a:off x="8353464" y="7308480"/>
            <a:ext cx="609519" cy="47625"/>
          </a:xfrm>
          <a:prstGeom prst="roundRect">
            <a:avLst>
              <a:gd name="adj" fmla="val 50000"/>
            </a:avLst>
          </a:prstGeom>
          <a:solidFill>
            <a:srgbClr val="7C1D2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1143000" y="8262802"/>
            <a:ext cx="16002000" cy="9525"/>
          </a:xfrm>
          <a:prstGeom prst="rect">
            <a:avLst/>
          </a:prstGeom>
          <a:solidFill>
            <a:srgbClr val="E7DDD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1143000" y="8519057"/>
            <a:ext cx="8486775" cy="219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kern="0" spc="216" dirty="0">
                <a:solidFill>
                  <a:srgbClr val="A8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43000" y="8777071"/>
            <a:ext cx="848677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221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Emanuele Girardello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143000" y="9119917"/>
            <a:ext cx="8486775" cy="2632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6E63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VR500077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4141003" y="8519057"/>
            <a:ext cx="3003996" cy="2580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00" b="1" kern="0" spc="216" dirty="0">
                <a:solidFill>
                  <a:srgbClr val="A8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535696" y="8777070"/>
            <a:ext cx="3609303" cy="4155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950" b="1" dirty="0">
                <a:solidFill>
                  <a:srgbClr val="221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Alessandro Farinelli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342900" y="9554495"/>
            <a:ext cx="17602200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350" b="1" kern="0" spc="189" dirty="0">
                <a:solidFill>
                  <a:srgbClr val="7C1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YEAR 2025/2026</a:t>
            </a:r>
            <a:endParaRPr lang="en-US" sz="1350" dirty="0"/>
          </a:p>
        </p:txBody>
      </p:sp>
      <p:pic>
        <p:nvPicPr>
          <p:cNvPr id="18" name="Elemento grafico 17">
            <a:extLst>
              <a:ext uri="{FF2B5EF4-FFF2-40B4-BE49-F238E27FC236}">
                <a16:creationId xmlns:a16="http://schemas.microsoft.com/office/drawing/2014/main" id="{F3BBD2FA-9F62-FD03-75AF-A70D17548D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42537" y="412475"/>
            <a:ext cx="2631370" cy="2631370"/>
          </a:xfrm>
          <a:prstGeom prst="rect">
            <a:avLst/>
          </a:prstGeom>
        </p:spPr>
      </p:pic>
      <p:sp>
        <p:nvSpPr>
          <p:cNvPr id="24" name="Text 9">
            <a:extLst>
              <a:ext uri="{FF2B5EF4-FFF2-40B4-BE49-F238E27FC236}">
                <a16:creationId xmlns:a16="http://schemas.microsoft.com/office/drawing/2014/main" id="{4BFAFFCD-61F6-FD9E-2864-6CDADF518AD0}"/>
              </a:ext>
            </a:extLst>
          </p:cNvPr>
          <p:cNvSpPr/>
          <p:nvPr/>
        </p:nvSpPr>
        <p:spPr>
          <a:xfrm>
            <a:off x="14141004" y="9231551"/>
            <a:ext cx="3003995" cy="2313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200" b="1" kern="0" spc="216" dirty="0">
                <a:solidFill>
                  <a:srgbClr val="A8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CO-SUPERVISOR</a:t>
            </a:r>
            <a:endParaRPr lang="en-US" sz="1200" dirty="0"/>
          </a:p>
        </p:txBody>
      </p:sp>
      <p:sp>
        <p:nvSpPr>
          <p:cNvPr id="26" name="Text 10">
            <a:extLst>
              <a:ext uri="{FF2B5EF4-FFF2-40B4-BE49-F238E27FC236}">
                <a16:creationId xmlns:a16="http://schemas.microsoft.com/office/drawing/2014/main" id="{8E3D7E7A-0755-A042-7AD8-93E9A9138781}"/>
              </a:ext>
            </a:extLst>
          </p:cNvPr>
          <p:cNvSpPr/>
          <p:nvPr/>
        </p:nvSpPr>
        <p:spPr>
          <a:xfrm>
            <a:off x="13535697" y="9489563"/>
            <a:ext cx="3609303" cy="302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1950" b="1" dirty="0">
                <a:solidFill>
                  <a:srgbClr val="221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Dott. Ing. Daniele Meli</a:t>
            </a:r>
            <a:endParaRPr lang="en-US" sz="1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346"/>
            <a:ext cx="3114824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97" dirty="0">
                <a:solidFill>
                  <a:srgbClr val="7C1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ADDRESSED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15264244" y="548881"/>
            <a:ext cx="2220367" cy="219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200" kern="0" spc="120" dirty="0">
                <a:solidFill>
                  <a:srgbClr val="A8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1018255"/>
            <a:ext cx="18440399" cy="6286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650" b="1" kern="0" spc="-70" dirty="0">
                <a:solidFill>
                  <a:srgbClr val="221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Coordination and generalization</a:t>
            </a:r>
            <a:endParaRPr lang="en-US" sz="4650" dirty="0"/>
          </a:p>
        </p:txBody>
      </p:sp>
      <p:sp>
        <p:nvSpPr>
          <p:cNvPr id="5" name="Shape 3"/>
          <p:cNvSpPr/>
          <p:nvPr/>
        </p:nvSpPr>
        <p:spPr>
          <a:xfrm>
            <a:off x="762000" y="1818274"/>
            <a:ext cx="609519" cy="47625"/>
          </a:xfrm>
          <a:prstGeom prst="roundRect">
            <a:avLst>
              <a:gd name="adj" fmla="val 50000"/>
            </a:avLst>
          </a:prstGeom>
          <a:solidFill>
            <a:srgbClr val="7C1D2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Shape 10"/>
          <p:cNvSpPr/>
          <p:nvPr/>
        </p:nvSpPr>
        <p:spPr>
          <a:xfrm>
            <a:off x="762000" y="5947754"/>
            <a:ext cx="16763999" cy="2014862"/>
          </a:xfrm>
          <a:prstGeom prst="roundRect">
            <a:avLst>
              <a:gd name="adj" fmla="val 6618"/>
            </a:avLst>
          </a:prstGeom>
          <a:solidFill>
            <a:srgbClr val="F4EBE9"/>
          </a:solidFill>
          <a:ln w="8659">
            <a:solidFill>
              <a:srgbClr val="E6D2D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1151659" y="6044316"/>
            <a:ext cx="1758314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b="1" kern="0" spc="204" dirty="0">
                <a:solidFill>
                  <a:srgbClr val="7C1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</a:t>
            </a:r>
            <a:endParaRPr lang="en-US" sz="1275" dirty="0"/>
          </a:p>
        </p:txBody>
      </p:sp>
      <p:sp>
        <p:nvSpPr>
          <p:cNvPr id="14" name="Text 12"/>
          <p:cNvSpPr/>
          <p:nvPr/>
        </p:nvSpPr>
        <p:spPr>
          <a:xfrm>
            <a:off x="1151660" y="6446952"/>
            <a:ext cx="5304912" cy="13014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7C1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</a:t>
            </a:r>
            <a:r>
              <a:rPr lang="en-US" sz="1800" b="1" dirty="0" err="1">
                <a:solidFill>
                  <a:srgbClr val="7C1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stationarity</a:t>
            </a:r>
            <a:r>
              <a:rPr lang="en-US" sz="1800" b="1" dirty="0">
                <a:solidFill>
                  <a:srgbClr val="7C1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it-IT" dirty="0"/>
              <a:t>agents' behavior changes at every update, the target to optimize keeps moving.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568732" y="6425316"/>
            <a:ext cx="5304912" cy="10071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7C1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Coordination </a:t>
            </a:r>
            <a:r>
              <a:rPr lang="en-US" sz="1800" dirty="0">
                <a:solidFill>
                  <a:srgbClr val="3429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communication, no central controller.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985804" y="6425316"/>
            <a:ext cx="5304912" cy="10071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7C1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Generalization </a:t>
            </a:r>
            <a:r>
              <a:rPr lang="en-US" sz="1800" dirty="0">
                <a:solidFill>
                  <a:srgbClr val="3429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multiple agents and different topologies.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62000" y="9514717"/>
            <a:ext cx="16763999" cy="9525"/>
          </a:xfrm>
          <a:prstGeom prst="rect">
            <a:avLst/>
          </a:prstGeom>
          <a:solidFill>
            <a:srgbClr val="E7DDD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762000" y="9656645"/>
            <a:ext cx="3456682" cy="2112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kern="0" spc="45" dirty="0">
                <a:solidFill>
                  <a:srgbClr val="A8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Coordination and generalization in MARL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17367024" y="9660974"/>
            <a:ext cx="235175" cy="2026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A8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25" dirty="0"/>
          </a:p>
        </p:txBody>
      </p:sp>
      <p:sp>
        <p:nvSpPr>
          <p:cNvPr id="33" name="Shape 4">
            <a:extLst>
              <a:ext uri="{FF2B5EF4-FFF2-40B4-BE49-F238E27FC236}">
                <a16:creationId xmlns:a16="http://schemas.microsoft.com/office/drawing/2014/main" id="{C861EAE1-A847-FD44-AE55-B73E457EBA01}"/>
              </a:ext>
            </a:extLst>
          </p:cNvPr>
          <p:cNvSpPr/>
          <p:nvPr/>
        </p:nvSpPr>
        <p:spPr>
          <a:xfrm>
            <a:off x="762000" y="3640065"/>
            <a:ext cx="16763999" cy="1761719"/>
          </a:xfrm>
          <a:prstGeom prst="roundRect">
            <a:avLst>
              <a:gd name="adj" fmla="val 7569"/>
            </a:avLst>
          </a:prstGeom>
          <a:solidFill>
            <a:srgbClr val="FFFFFF"/>
          </a:solidFill>
          <a:ln w="8659">
            <a:solidFill>
              <a:srgbClr val="EBE0D9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35" name="Text 6">
            <a:extLst>
              <a:ext uri="{FF2B5EF4-FFF2-40B4-BE49-F238E27FC236}">
                <a16:creationId xmlns:a16="http://schemas.microsoft.com/office/drawing/2014/main" id="{123E0722-BFCB-1218-DD54-FEBE1B07CC8D}"/>
              </a:ext>
            </a:extLst>
          </p:cNvPr>
          <p:cNvSpPr/>
          <p:nvPr/>
        </p:nvSpPr>
        <p:spPr>
          <a:xfrm>
            <a:off x="1020389" y="4296262"/>
            <a:ext cx="16464222" cy="811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100" dirty="0">
                <a:solidFill>
                  <a:srgbClr val="3429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autonomous agents must coordinate in a shared environment, without communication or </a:t>
            </a:r>
            <a:r>
              <a:rPr lang="en-US" sz="2100" dirty="0" err="1">
                <a:solidFill>
                  <a:srgbClr val="3429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central</a:t>
            </a:r>
            <a:r>
              <a:rPr lang="en-US" sz="2100" dirty="0">
                <a:solidFill>
                  <a:srgbClr val="3429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controller.</a:t>
            </a:r>
            <a:endParaRPr lang="en-US" sz="2100" dirty="0"/>
          </a:p>
        </p:txBody>
      </p:sp>
      <p:sp>
        <p:nvSpPr>
          <p:cNvPr id="44" name="CasellaDiTesto 43">
            <a:extLst>
              <a:ext uri="{FF2B5EF4-FFF2-40B4-BE49-F238E27FC236}">
                <a16:creationId xmlns:a16="http://schemas.microsoft.com/office/drawing/2014/main" id="{49FA7EAC-E043-96DD-17F0-4E1A9718C21C}"/>
              </a:ext>
            </a:extLst>
          </p:cNvPr>
          <p:cNvSpPr txBox="1"/>
          <p:nvPr/>
        </p:nvSpPr>
        <p:spPr>
          <a:xfrm>
            <a:off x="1018309" y="3859033"/>
            <a:ext cx="17439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kern="0" spc="204" dirty="0">
                <a:solidFill>
                  <a:srgbClr val="7C1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dirty="0"/>
          </a:p>
          <a:p>
            <a:endParaRPr lang="it-IT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346"/>
            <a:ext cx="3114824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97" dirty="0">
                <a:solidFill>
                  <a:srgbClr val="7C1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ADDRESSED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17296263" y="542005"/>
            <a:ext cx="305937" cy="219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kern="0" spc="120" dirty="0">
                <a:solidFill>
                  <a:srgbClr val="A8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980101"/>
            <a:ext cx="18440399" cy="5433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900" b="1" kern="0" spc="-58" dirty="0">
                <a:solidFill>
                  <a:srgbClr val="221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question and objective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>
            <a:off x="762000" y="1656728"/>
            <a:ext cx="609519" cy="47625"/>
          </a:xfrm>
          <a:prstGeom prst="roundRect">
            <a:avLst>
              <a:gd name="adj" fmla="val 50000"/>
            </a:avLst>
          </a:prstGeom>
          <a:solidFill>
            <a:srgbClr val="7C1D2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Shape 10"/>
          <p:cNvSpPr/>
          <p:nvPr/>
        </p:nvSpPr>
        <p:spPr>
          <a:xfrm>
            <a:off x="762000" y="5957996"/>
            <a:ext cx="16763999" cy="1743724"/>
          </a:xfrm>
          <a:prstGeom prst="roundRect">
            <a:avLst>
              <a:gd name="adj" fmla="val 7647"/>
            </a:avLst>
          </a:prstGeom>
          <a:solidFill>
            <a:srgbClr val="F4EBE9"/>
          </a:solidFill>
          <a:ln w="8659">
            <a:solidFill>
              <a:srgbClr val="E6D2D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1151659" y="6233328"/>
            <a:ext cx="17583149" cy="219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kern="0" spc="192" dirty="0">
                <a:solidFill>
                  <a:srgbClr val="7C1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THIS PRESENTATION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151659" y="6586592"/>
            <a:ext cx="25977" cy="839796"/>
          </a:xfrm>
          <a:prstGeom prst="rect">
            <a:avLst/>
          </a:prstGeom>
          <a:solidFill>
            <a:srgbClr val="7C1D2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1330036" y="6586592"/>
            <a:ext cx="5113435" cy="877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>
                <a:solidFill>
                  <a:srgbClr val="3429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limits of the MLP architecture and the impact of limiting observation size on generalization ability.</a:t>
            </a:r>
            <a:endParaRPr lang="en-US" sz="1575" dirty="0"/>
          </a:p>
        </p:txBody>
      </p:sp>
      <p:sp>
        <p:nvSpPr>
          <p:cNvPr id="16" name="Shape 14"/>
          <p:cNvSpPr/>
          <p:nvPr/>
        </p:nvSpPr>
        <p:spPr>
          <a:xfrm>
            <a:off x="6575091" y="6586592"/>
            <a:ext cx="25977" cy="839796"/>
          </a:xfrm>
          <a:prstGeom prst="rect">
            <a:avLst/>
          </a:prstGeom>
          <a:solidFill>
            <a:srgbClr val="7C1D2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6753468" y="6586592"/>
            <a:ext cx="5113435" cy="877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>
                <a:solidFill>
                  <a:srgbClr val="3429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Similarities and differences in performance between a centralized and a decentralized approach.</a:t>
            </a:r>
            <a:endParaRPr lang="en-US" sz="1575" dirty="0"/>
          </a:p>
        </p:txBody>
      </p:sp>
      <p:sp>
        <p:nvSpPr>
          <p:cNvPr id="18" name="Shape 16"/>
          <p:cNvSpPr/>
          <p:nvPr/>
        </p:nvSpPr>
        <p:spPr>
          <a:xfrm>
            <a:off x="11998523" y="6586592"/>
            <a:ext cx="25977" cy="839796"/>
          </a:xfrm>
          <a:prstGeom prst="rect">
            <a:avLst/>
          </a:prstGeom>
          <a:solidFill>
            <a:srgbClr val="7C1D2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12176901" y="6586592"/>
            <a:ext cx="5113435" cy="877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>
                <a:solidFill>
                  <a:srgbClr val="3429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failure of an off-policy MASAC approach in a non-stationary, chaotic environment with discrete actions.</a:t>
            </a:r>
            <a:endParaRPr lang="en-US" sz="1575" dirty="0"/>
          </a:p>
        </p:txBody>
      </p:sp>
      <p:sp>
        <p:nvSpPr>
          <p:cNvPr id="20" name="Shape 18"/>
          <p:cNvSpPr/>
          <p:nvPr/>
        </p:nvSpPr>
        <p:spPr>
          <a:xfrm>
            <a:off x="762000" y="9514717"/>
            <a:ext cx="16763999" cy="9525"/>
          </a:xfrm>
          <a:prstGeom prst="rect">
            <a:avLst/>
          </a:prstGeom>
          <a:solidFill>
            <a:srgbClr val="E7DDD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762000" y="9656645"/>
            <a:ext cx="3456682" cy="2112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kern="0" spc="45" dirty="0">
                <a:solidFill>
                  <a:srgbClr val="A8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Coordination and generalization in MARL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17367024" y="9660974"/>
            <a:ext cx="235175" cy="2026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A8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25" dirty="0"/>
          </a:p>
        </p:txBody>
      </p:sp>
      <p:sp>
        <p:nvSpPr>
          <p:cNvPr id="24" name="Shape 4">
            <a:extLst>
              <a:ext uri="{FF2B5EF4-FFF2-40B4-BE49-F238E27FC236}">
                <a16:creationId xmlns:a16="http://schemas.microsoft.com/office/drawing/2014/main" id="{1E3D5717-43F0-FE94-D6CD-F450F1AF23BC}"/>
              </a:ext>
            </a:extLst>
          </p:cNvPr>
          <p:cNvSpPr/>
          <p:nvPr/>
        </p:nvSpPr>
        <p:spPr>
          <a:xfrm>
            <a:off x="762000" y="3667531"/>
            <a:ext cx="16763999" cy="1873475"/>
          </a:xfrm>
          <a:prstGeom prst="roundRect">
            <a:avLst>
              <a:gd name="adj" fmla="val 7118"/>
            </a:avLst>
          </a:prstGeom>
          <a:solidFill>
            <a:srgbClr val="FFFFFF"/>
          </a:solidFill>
          <a:ln w="8659">
            <a:solidFill>
              <a:srgbClr val="EBE0D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Text 5">
            <a:extLst>
              <a:ext uri="{FF2B5EF4-FFF2-40B4-BE49-F238E27FC236}">
                <a16:creationId xmlns:a16="http://schemas.microsoft.com/office/drawing/2014/main" id="{0A4C6B35-2BDF-7E7C-CCF3-A53C1A232CA1}"/>
              </a:ext>
            </a:extLst>
          </p:cNvPr>
          <p:cNvSpPr/>
          <p:nvPr/>
        </p:nvSpPr>
        <p:spPr>
          <a:xfrm>
            <a:off x="1151659" y="3828130"/>
            <a:ext cx="16374340" cy="10039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25" dirty="0">
                <a:solidFill>
                  <a:srgbClr val="3429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Approaches: decentralized </a:t>
            </a:r>
            <a:r>
              <a:rPr lang="en-US" sz="2025" b="1" dirty="0">
                <a:solidFill>
                  <a:srgbClr val="7C1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(IPPO)</a:t>
            </a:r>
            <a:r>
              <a:rPr lang="en-US" sz="2025" dirty="0">
                <a:solidFill>
                  <a:srgbClr val="3429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centralized </a:t>
            </a:r>
            <a:r>
              <a:rPr lang="en-US" sz="2025" b="1" dirty="0">
                <a:solidFill>
                  <a:srgbClr val="7C1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(MAPPO)</a:t>
            </a:r>
            <a:r>
              <a:rPr lang="en-US" sz="2025" dirty="0">
                <a:solidFill>
                  <a:srgbClr val="3429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off-policy </a:t>
            </a:r>
            <a:r>
              <a:rPr lang="en-US" sz="2025" b="1" dirty="0">
                <a:solidFill>
                  <a:srgbClr val="7C1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(MASAC): </a:t>
            </a:r>
            <a:r>
              <a:rPr lang="en-US" sz="2025" dirty="0">
                <a:solidFill>
                  <a:srgbClr val="3429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they differ in training performance and generalization ability?</a:t>
            </a:r>
            <a:endParaRPr lang="en-US" sz="2025" dirty="0"/>
          </a:p>
        </p:txBody>
      </p:sp>
      <p:sp>
        <p:nvSpPr>
          <p:cNvPr id="28" name="Text 6">
            <a:extLst>
              <a:ext uri="{FF2B5EF4-FFF2-40B4-BE49-F238E27FC236}">
                <a16:creationId xmlns:a16="http://schemas.microsoft.com/office/drawing/2014/main" id="{396A3B6A-C3C3-F9A1-8C25-B1B6070708D4}"/>
              </a:ext>
            </a:extLst>
          </p:cNvPr>
          <p:cNvSpPr/>
          <p:nvPr/>
        </p:nvSpPr>
        <p:spPr>
          <a:xfrm>
            <a:off x="1151658" y="4913357"/>
            <a:ext cx="18050741" cy="5585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50" dirty="0" err="1">
                <a:solidFill>
                  <a:srgbClr val="6B5C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</a:t>
            </a:r>
            <a:r>
              <a:rPr lang="en-US" sz="1650" dirty="0">
                <a:solidFill>
                  <a:srgbClr val="6B5C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training on a fixed configuration, zero-shot evaluation on increasing densities and on a never-before-seen topology.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346"/>
            <a:ext cx="1947565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97" dirty="0">
                <a:solidFill>
                  <a:srgbClr val="7C1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MARL AND MAMDP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17290716" y="542005"/>
            <a:ext cx="311484" cy="219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kern="0" spc="120" dirty="0">
                <a:solidFill>
                  <a:srgbClr val="A8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961024"/>
            <a:ext cx="18440399" cy="4848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450" b="1" kern="0" spc="-52" dirty="0">
                <a:solidFill>
                  <a:srgbClr val="221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general framework: Markov Game</a:t>
            </a:r>
            <a:endParaRPr lang="en-US" sz="3450" dirty="0"/>
          </a:p>
        </p:txBody>
      </p:sp>
      <p:sp>
        <p:nvSpPr>
          <p:cNvPr id="5" name="Text 3"/>
          <p:cNvSpPr/>
          <p:nvPr/>
        </p:nvSpPr>
        <p:spPr>
          <a:xfrm>
            <a:off x="762000" y="1483952"/>
            <a:ext cx="18440399" cy="297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6E63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MDP extended to multiple actors</a:t>
            </a:r>
            <a:endParaRPr lang="en-US" sz="1725" dirty="0"/>
          </a:p>
        </p:txBody>
      </p:sp>
      <p:sp>
        <p:nvSpPr>
          <p:cNvPr id="6" name="Shape 4"/>
          <p:cNvSpPr/>
          <p:nvPr/>
        </p:nvSpPr>
        <p:spPr>
          <a:xfrm>
            <a:off x="762000" y="1896070"/>
            <a:ext cx="609519" cy="47625"/>
          </a:xfrm>
          <a:prstGeom prst="roundRect">
            <a:avLst>
              <a:gd name="adj" fmla="val 50000"/>
            </a:avLst>
          </a:prstGeom>
          <a:solidFill>
            <a:srgbClr val="7C1D2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762000" y="4032024"/>
            <a:ext cx="9433403" cy="689209"/>
          </a:xfrm>
          <a:prstGeom prst="roundRect">
            <a:avLst>
              <a:gd name="adj" fmla="val 16584"/>
            </a:avLst>
          </a:prstGeom>
          <a:solidFill>
            <a:srgbClr val="F4EBE9"/>
          </a:solidFill>
          <a:ln w="8659">
            <a:solidFill>
              <a:srgbClr val="E6D2D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857758" y="4212133"/>
            <a:ext cx="9241887" cy="3670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950" dirty="0">
                <a:solidFill>
                  <a:srgbClr val="5A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⟨ S, N, {Aₙ}, P, {Rₙ}, γ, μ ⟩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762000" y="4930676"/>
            <a:ext cx="263047" cy="308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75" b="1" dirty="0">
                <a:solidFill>
                  <a:srgbClr val="7C1D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endParaRPr lang="en-US" sz="1575" dirty="0"/>
          </a:p>
        </p:txBody>
      </p:sp>
      <p:sp>
        <p:nvSpPr>
          <p:cNvPr id="10" name="Text 8"/>
          <p:cNvSpPr/>
          <p:nvPr/>
        </p:nvSpPr>
        <p:spPr>
          <a:xfrm>
            <a:off x="1120270" y="4930676"/>
            <a:ext cx="9982646" cy="308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75" dirty="0">
                <a:solidFill>
                  <a:srgbClr val="3429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finite number of states</a:t>
            </a:r>
            <a:endParaRPr lang="en-US" sz="1575" dirty="0"/>
          </a:p>
        </p:txBody>
      </p:sp>
      <p:sp>
        <p:nvSpPr>
          <p:cNvPr id="11" name="Text 9"/>
          <p:cNvSpPr/>
          <p:nvPr/>
        </p:nvSpPr>
        <p:spPr>
          <a:xfrm>
            <a:off x="762000" y="5295846"/>
            <a:ext cx="263047" cy="308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75" b="1" dirty="0">
                <a:solidFill>
                  <a:srgbClr val="7C1D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endParaRPr lang="en-US" sz="1575" dirty="0"/>
          </a:p>
        </p:txBody>
      </p:sp>
      <p:sp>
        <p:nvSpPr>
          <p:cNvPr id="12" name="Text 10"/>
          <p:cNvSpPr/>
          <p:nvPr/>
        </p:nvSpPr>
        <p:spPr>
          <a:xfrm>
            <a:off x="1120270" y="5295846"/>
            <a:ext cx="9982646" cy="308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75" dirty="0">
                <a:solidFill>
                  <a:srgbClr val="3429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finite number of agents</a:t>
            </a:r>
            <a:endParaRPr lang="en-US" sz="1575" dirty="0"/>
          </a:p>
        </p:txBody>
      </p:sp>
      <p:sp>
        <p:nvSpPr>
          <p:cNvPr id="13" name="Text 11"/>
          <p:cNvSpPr/>
          <p:nvPr/>
        </p:nvSpPr>
        <p:spPr>
          <a:xfrm>
            <a:off x="762000" y="5661016"/>
            <a:ext cx="263047" cy="3166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75" b="1" dirty="0">
                <a:solidFill>
                  <a:srgbClr val="7C1D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Aₙ</a:t>
            </a:r>
            <a:endParaRPr lang="en-US" sz="1575" dirty="0"/>
          </a:p>
        </p:txBody>
      </p:sp>
      <p:sp>
        <p:nvSpPr>
          <p:cNvPr id="14" name="Text 12"/>
          <p:cNvSpPr/>
          <p:nvPr/>
        </p:nvSpPr>
        <p:spPr>
          <a:xfrm>
            <a:off x="1120270" y="5661016"/>
            <a:ext cx="9982646" cy="3166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75" dirty="0">
                <a:solidFill>
                  <a:srgbClr val="3429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actions of the single agent · joint action </a:t>
            </a:r>
            <a:r>
              <a:rPr lang="en-US" sz="1575" dirty="0">
                <a:solidFill>
                  <a:srgbClr val="3429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A₁ × … × Aₙ</a:t>
            </a:r>
            <a:endParaRPr lang="en-US" sz="1575" dirty="0"/>
          </a:p>
        </p:txBody>
      </p:sp>
      <p:sp>
        <p:nvSpPr>
          <p:cNvPr id="15" name="Text 13"/>
          <p:cNvSpPr/>
          <p:nvPr/>
        </p:nvSpPr>
        <p:spPr>
          <a:xfrm>
            <a:off x="762000" y="6034845"/>
            <a:ext cx="263047" cy="3166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75" b="1" dirty="0">
                <a:solidFill>
                  <a:srgbClr val="7C1D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endParaRPr lang="en-US" sz="1575" dirty="0"/>
          </a:p>
        </p:txBody>
      </p:sp>
      <p:sp>
        <p:nvSpPr>
          <p:cNvPr id="16" name="Text 14"/>
          <p:cNvSpPr/>
          <p:nvPr/>
        </p:nvSpPr>
        <p:spPr>
          <a:xfrm>
            <a:off x="1120270" y="6034845"/>
            <a:ext cx="9982646" cy="3166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75" dirty="0">
                <a:solidFill>
                  <a:srgbClr val="3429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transition, depends on the joint action: </a:t>
            </a:r>
            <a:r>
              <a:rPr lang="en-US" sz="1575" dirty="0">
                <a:solidFill>
                  <a:srgbClr val="3429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× A₁ × ⋯Aₙ → Δ(S)</a:t>
            </a:r>
            <a:endParaRPr lang="en-US" sz="1575" dirty="0"/>
          </a:p>
        </p:txBody>
      </p:sp>
      <p:sp>
        <p:nvSpPr>
          <p:cNvPr id="17" name="Text 15"/>
          <p:cNvSpPr/>
          <p:nvPr/>
        </p:nvSpPr>
        <p:spPr>
          <a:xfrm>
            <a:off x="762000" y="6408674"/>
            <a:ext cx="263047" cy="3166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75" b="1" dirty="0">
                <a:solidFill>
                  <a:srgbClr val="7C1D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Rₙ</a:t>
            </a:r>
            <a:endParaRPr lang="en-US" sz="1575" dirty="0"/>
          </a:p>
        </p:txBody>
      </p:sp>
      <p:sp>
        <p:nvSpPr>
          <p:cNvPr id="18" name="Text 16"/>
          <p:cNvSpPr/>
          <p:nvPr/>
        </p:nvSpPr>
        <p:spPr>
          <a:xfrm>
            <a:off x="1120270" y="6408674"/>
            <a:ext cx="9982646" cy="3166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75" dirty="0">
                <a:solidFill>
                  <a:srgbClr val="3429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reward for each agent: </a:t>
            </a:r>
            <a:r>
              <a:rPr lang="en-US" sz="1575" dirty="0">
                <a:solidFill>
                  <a:srgbClr val="3429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× A₁ × ⋯Aₙ → [−1, 1]</a:t>
            </a:r>
            <a:endParaRPr lang="en-US" sz="1575" dirty="0"/>
          </a:p>
        </p:txBody>
      </p:sp>
      <p:sp>
        <p:nvSpPr>
          <p:cNvPr id="19" name="Text 17"/>
          <p:cNvSpPr/>
          <p:nvPr/>
        </p:nvSpPr>
        <p:spPr>
          <a:xfrm>
            <a:off x="762000" y="6782503"/>
            <a:ext cx="263047" cy="308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75" b="1" dirty="0">
                <a:solidFill>
                  <a:srgbClr val="7C1D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γ</a:t>
            </a:r>
            <a:endParaRPr lang="en-US" sz="1575" dirty="0"/>
          </a:p>
        </p:txBody>
      </p:sp>
      <p:sp>
        <p:nvSpPr>
          <p:cNvPr id="20" name="Text 18"/>
          <p:cNvSpPr/>
          <p:nvPr/>
        </p:nvSpPr>
        <p:spPr>
          <a:xfrm>
            <a:off x="1120270" y="6782503"/>
            <a:ext cx="9982646" cy="308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75" dirty="0">
                <a:solidFill>
                  <a:srgbClr val="3429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discount factor</a:t>
            </a:r>
            <a:endParaRPr lang="en-US" sz="1575" dirty="0"/>
          </a:p>
        </p:txBody>
      </p:sp>
      <p:sp>
        <p:nvSpPr>
          <p:cNvPr id="21" name="Text 19"/>
          <p:cNvSpPr/>
          <p:nvPr/>
        </p:nvSpPr>
        <p:spPr>
          <a:xfrm>
            <a:off x="762000" y="7147674"/>
            <a:ext cx="263047" cy="3166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75" b="1" dirty="0">
                <a:solidFill>
                  <a:srgbClr val="7C1D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μ</a:t>
            </a:r>
            <a:endParaRPr lang="en-US" sz="1575" dirty="0"/>
          </a:p>
        </p:txBody>
      </p:sp>
      <p:sp>
        <p:nvSpPr>
          <p:cNvPr id="22" name="Text 20"/>
          <p:cNvSpPr/>
          <p:nvPr/>
        </p:nvSpPr>
        <p:spPr>
          <a:xfrm>
            <a:off x="1120270" y="7147674"/>
            <a:ext cx="9982646" cy="3166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75" dirty="0">
                <a:solidFill>
                  <a:srgbClr val="3429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∈ Δ(S)</a:t>
            </a:r>
            <a:r>
              <a:rPr lang="en-US" sz="1575" dirty="0">
                <a:solidFill>
                  <a:srgbClr val="3429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initial state distribution</a:t>
            </a:r>
            <a:endParaRPr lang="en-US" sz="1575" dirty="0"/>
          </a:p>
        </p:txBody>
      </p:sp>
      <p:sp>
        <p:nvSpPr>
          <p:cNvPr id="23" name="Shape 21"/>
          <p:cNvSpPr/>
          <p:nvPr/>
        </p:nvSpPr>
        <p:spPr>
          <a:xfrm>
            <a:off x="10538249" y="4096832"/>
            <a:ext cx="6987751" cy="3264748"/>
          </a:xfrm>
          <a:prstGeom prst="roundRect">
            <a:avLst>
              <a:gd name="adj" fmla="val 4085"/>
            </a:avLst>
          </a:prstGeom>
          <a:solidFill>
            <a:srgbClr val="FFFFFF"/>
          </a:solidFill>
          <a:ln w="8659">
            <a:solidFill>
              <a:srgbClr val="EBE0D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10889754" y="4429260"/>
            <a:ext cx="6913215" cy="219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kern="0" spc="192" dirty="0">
                <a:solidFill>
                  <a:srgbClr val="7C1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NON-STATIONARITY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889754" y="4782524"/>
            <a:ext cx="6473283" cy="10670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429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MARL multiple agents learn simultaneously in the same environment. Each agent is part of the others' environment.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0889754" y="5982891"/>
            <a:ext cx="6473283" cy="1084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429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the individual's perspective, the environment </a:t>
            </a:r>
            <a:r>
              <a:rPr lang="en-US" sz="1800" dirty="0" err="1">
                <a:solidFill>
                  <a:srgbClr val="3429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becomes</a:t>
            </a:r>
            <a:r>
              <a:rPr lang="en-US" sz="1800" dirty="0">
                <a:solidFill>
                  <a:srgbClr val="3429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7C1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</a:t>
            </a:r>
            <a:r>
              <a:rPr lang="en-US" sz="1800" b="1" dirty="0" err="1">
                <a:solidFill>
                  <a:srgbClr val="7C1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stationary</a:t>
            </a:r>
            <a:r>
              <a:rPr lang="en-US" sz="1800" dirty="0">
                <a:solidFill>
                  <a:srgbClr val="3429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the </a:t>
            </a:r>
            <a:r>
              <a:rPr lang="en-US" sz="1800" dirty="0" err="1">
                <a:solidFill>
                  <a:srgbClr val="3429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dynamics</a:t>
            </a:r>
            <a:r>
              <a:rPr lang="en-US" sz="1800" dirty="0">
                <a:solidFill>
                  <a:srgbClr val="3429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800" dirty="0" err="1">
                <a:solidFill>
                  <a:srgbClr val="3429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the environment</a:t>
            </a:r>
            <a:r>
              <a:rPr lang="en-US" sz="1800" dirty="0">
                <a:solidFill>
                  <a:srgbClr val="3429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800" dirty="0" err="1">
                <a:solidFill>
                  <a:srgbClr val="3429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</a:t>
            </a:r>
            <a:r>
              <a:rPr lang="en-US" sz="1800" dirty="0">
                <a:solidFill>
                  <a:srgbClr val="3429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at every update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762000" y="9514717"/>
            <a:ext cx="16763999" cy="9525"/>
          </a:xfrm>
          <a:prstGeom prst="rect">
            <a:avLst/>
          </a:prstGeom>
          <a:solidFill>
            <a:srgbClr val="E7DDD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8" name="Text 26"/>
          <p:cNvSpPr/>
          <p:nvPr/>
        </p:nvSpPr>
        <p:spPr>
          <a:xfrm>
            <a:off x="762000" y="9656645"/>
            <a:ext cx="3456682" cy="2112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kern="0" spc="45" dirty="0">
                <a:solidFill>
                  <a:srgbClr val="A8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Coordination and generalization in MARL</a:t>
            </a:r>
            <a:endParaRPr lang="en-US" sz="1125" dirty="0"/>
          </a:p>
        </p:txBody>
      </p:sp>
      <p:sp>
        <p:nvSpPr>
          <p:cNvPr id="29" name="Text 27"/>
          <p:cNvSpPr/>
          <p:nvPr/>
        </p:nvSpPr>
        <p:spPr>
          <a:xfrm>
            <a:off x="17367024" y="9660974"/>
            <a:ext cx="235175" cy="2026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A8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346"/>
            <a:ext cx="1947565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97" dirty="0">
                <a:solidFill>
                  <a:srgbClr val="7C1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MARL AND MAMDP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17288956" y="542005"/>
            <a:ext cx="313243" cy="219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kern="0" spc="120" dirty="0">
                <a:solidFill>
                  <a:srgbClr val="A8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961024"/>
            <a:ext cx="18440399" cy="4848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450" b="1" kern="0" spc="-52" dirty="0">
                <a:solidFill>
                  <a:srgbClr val="221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</a:t>
            </a:r>
            <a:r>
              <a:rPr lang="en-US" sz="3450" b="1" kern="0" spc="-52" dirty="0" err="1">
                <a:solidFill>
                  <a:srgbClr val="221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</a:t>
            </a:r>
            <a:r>
              <a:rPr lang="en-US" sz="3450" b="1" kern="0" spc="-52" dirty="0">
                <a:solidFill>
                  <a:srgbClr val="221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Partially Observable Markov Game</a:t>
            </a:r>
            <a:endParaRPr lang="en-US" sz="3450" dirty="0"/>
          </a:p>
        </p:txBody>
      </p:sp>
      <p:sp>
        <p:nvSpPr>
          <p:cNvPr id="5" name="Shape 3"/>
          <p:cNvSpPr/>
          <p:nvPr/>
        </p:nvSpPr>
        <p:spPr>
          <a:xfrm>
            <a:off x="762000" y="1560125"/>
            <a:ext cx="609519" cy="47625"/>
          </a:xfrm>
          <a:prstGeom prst="roundRect">
            <a:avLst>
              <a:gd name="adj" fmla="val 50000"/>
            </a:avLst>
          </a:prstGeom>
          <a:solidFill>
            <a:srgbClr val="7C1D2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762000" y="4173512"/>
            <a:ext cx="2409825" cy="219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kern="0" spc="48" dirty="0">
                <a:solidFill>
                  <a:srgbClr val="7C1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 observability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105096" y="4044337"/>
            <a:ext cx="6983052" cy="5979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>
                <a:solidFill>
                  <a:srgbClr val="3429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agent does not see the global state S, but only a local observation Oₙ. The Markov Game becomes a multi-agent POMDP.</a:t>
            </a:r>
            <a:endParaRPr lang="en-US" sz="1575" dirty="0"/>
          </a:p>
        </p:txBody>
      </p:sp>
      <p:sp>
        <p:nvSpPr>
          <p:cNvPr id="8" name="Text 6"/>
          <p:cNvSpPr/>
          <p:nvPr/>
        </p:nvSpPr>
        <p:spPr>
          <a:xfrm>
            <a:off x="753840" y="4891330"/>
            <a:ext cx="2409825" cy="219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kern="0" spc="48" dirty="0">
                <a:solidFill>
                  <a:srgbClr val="7C1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Decentralized execution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105096" y="4775624"/>
            <a:ext cx="6983052" cy="5979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>
                <a:solidFill>
                  <a:srgbClr val="3429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agent decides based only on its own observation, without a central controller.</a:t>
            </a:r>
            <a:endParaRPr lang="en-US" sz="1575" dirty="0"/>
          </a:p>
        </p:txBody>
      </p:sp>
      <p:sp>
        <p:nvSpPr>
          <p:cNvPr id="10" name="Text 8"/>
          <p:cNvSpPr/>
          <p:nvPr/>
        </p:nvSpPr>
        <p:spPr>
          <a:xfrm>
            <a:off x="761999" y="5774909"/>
            <a:ext cx="2409825" cy="219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kern="0" spc="48" dirty="0">
                <a:solidFill>
                  <a:srgbClr val="7C1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 objective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105096" y="5475921"/>
            <a:ext cx="6983052" cy="877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 err="1">
                <a:solidFill>
                  <a:srgbClr val="3429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</a:t>
            </a:r>
            <a:r>
              <a:rPr lang="en-US" sz="1575" dirty="0">
                <a:solidFill>
                  <a:srgbClr val="3429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type of objective (reaching the destination), but </a:t>
            </a:r>
            <a:r>
              <a:rPr lang="en-US" sz="1575" dirty="0" err="1">
                <a:solidFill>
                  <a:srgbClr val="3429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</a:t>
            </a:r>
            <a:r>
              <a:rPr lang="en-US" sz="1575" dirty="0">
                <a:solidFill>
                  <a:srgbClr val="3429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75" dirty="0" err="1">
                <a:solidFill>
                  <a:srgbClr val="3429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r>
              <a:rPr lang="en-US" sz="1575" dirty="0">
                <a:solidFill>
                  <a:srgbClr val="3429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75" dirty="0" err="1">
                <a:solidFill>
                  <a:srgbClr val="3429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optimizes</a:t>
            </a:r>
            <a:r>
              <a:rPr lang="en-US" sz="1575" dirty="0">
                <a:solidFill>
                  <a:srgbClr val="3429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its own return. Global welfare is a consequence, not the target.</a:t>
            </a:r>
            <a:endParaRPr lang="en-US" sz="1575" dirty="0"/>
          </a:p>
        </p:txBody>
      </p:sp>
      <p:sp>
        <p:nvSpPr>
          <p:cNvPr id="12" name="Text 10"/>
          <p:cNvSpPr/>
          <p:nvPr/>
        </p:nvSpPr>
        <p:spPr>
          <a:xfrm>
            <a:off x="762000" y="6682104"/>
            <a:ext cx="2409825" cy="219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kern="0" spc="48" dirty="0">
                <a:solidFill>
                  <a:srgbClr val="7C1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 reward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105096" y="6518131"/>
            <a:ext cx="3290364" cy="5979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>
                <a:solidFill>
                  <a:srgbClr val="3429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Rₙ : S × A₁ × ⋯ Aₙ → [−1,1] </a:t>
            </a:r>
            <a:r>
              <a:rPr lang="en-US" sz="1575" dirty="0">
                <a:solidFill>
                  <a:srgbClr val="3429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shared reward.</a:t>
            </a:r>
            <a:endParaRPr lang="en-US" sz="1575" dirty="0"/>
          </a:p>
        </p:txBody>
      </p:sp>
      <p:sp>
        <p:nvSpPr>
          <p:cNvPr id="14" name="Shape 12"/>
          <p:cNvSpPr/>
          <p:nvPr/>
        </p:nvSpPr>
        <p:spPr>
          <a:xfrm>
            <a:off x="10227604" y="4243901"/>
            <a:ext cx="7298396" cy="616419"/>
          </a:xfrm>
          <a:prstGeom prst="roundRect">
            <a:avLst>
              <a:gd name="adj" fmla="val 18543"/>
            </a:avLst>
          </a:prstGeom>
          <a:solidFill>
            <a:srgbClr val="F4EBE9"/>
          </a:solidFill>
          <a:ln w="8659">
            <a:solidFill>
              <a:srgbClr val="E6D2D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10336337" y="4404961"/>
            <a:ext cx="7080929" cy="332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725" dirty="0">
                <a:solidFill>
                  <a:srgbClr val="5A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⟨ S, N, {Aₙ}, P, {Rₙ}, {Oₙ}, γ ⟩</a:t>
            </a:r>
            <a:endParaRPr lang="en-US" sz="1725" dirty="0"/>
          </a:p>
        </p:txBody>
      </p:sp>
      <p:sp>
        <p:nvSpPr>
          <p:cNvPr id="16" name="Shape 14"/>
          <p:cNvSpPr/>
          <p:nvPr/>
        </p:nvSpPr>
        <p:spPr>
          <a:xfrm>
            <a:off x="10227604" y="5069762"/>
            <a:ext cx="7298396" cy="1808668"/>
          </a:xfrm>
          <a:prstGeom prst="roundRect">
            <a:avLst>
              <a:gd name="adj" fmla="val 7373"/>
            </a:avLst>
          </a:prstGeom>
          <a:solidFill>
            <a:srgbClr val="FFFFFF"/>
          </a:solidFill>
          <a:ln w="8659">
            <a:solidFill>
              <a:srgbClr val="EBE0D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10522012" y="5345094"/>
            <a:ext cx="7380535" cy="219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kern="0" spc="192" dirty="0">
                <a:solidFill>
                  <a:srgbClr val="7C1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FORMAL DESCRIPTION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522012" y="5660204"/>
            <a:ext cx="6910865" cy="9809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50" dirty="0">
                <a:solidFill>
                  <a:srgbClr val="3429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General-sum game with partial observability and decentralized execution, in which cooperation must </a:t>
            </a:r>
            <a:r>
              <a:rPr lang="en-US" sz="1650" b="1" dirty="0">
                <a:solidFill>
                  <a:srgbClr val="7C1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 </a:t>
            </a:r>
            <a:r>
              <a:rPr lang="en-US" sz="1650" dirty="0">
                <a:solidFill>
                  <a:srgbClr val="3429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it is not imposed by the reward signal.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762000" y="9514717"/>
            <a:ext cx="16763999" cy="9525"/>
          </a:xfrm>
          <a:prstGeom prst="rect">
            <a:avLst/>
          </a:prstGeom>
          <a:solidFill>
            <a:srgbClr val="E7DDD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762000" y="9656645"/>
            <a:ext cx="3456682" cy="2112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kern="0" spc="45" dirty="0">
                <a:solidFill>
                  <a:srgbClr val="A8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Coordination and generalization in MARL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17367024" y="9660974"/>
            <a:ext cx="235175" cy="2026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A8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346"/>
            <a:ext cx="1092696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97" dirty="0">
                <a:solidFill>
                  <a:srgbClr val="7C1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17288956" y="542005"/>
            <a:ext cx="313243" cy="219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kern="0" spc="120" dirty="0">
                <a:solidFill>
                  <a:srgbClr val="A8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941947"/>
            <a:ext cx="5576143" cy="47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450" b="1" kern="0" spc="-52" dirty="0">
                <a:solidFill>
                  <a:srgbClr val="221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Highway-Env</a:t>
            </a:r>
            <a:endParaRPr lang="en-US" sz="3450" dirty="0"/>
          </a:p>
        </p:txBody>
      </p:sp>
      <p:sp>
        <p:nvSpPr>
          <p:cNvPr id="5" name="Text 3"/>
          <p:cNvSpPr/>
          <p:nvPr/>
        </p:nvSpPr>
        <p:spPr>
          <a:xfrm>
            <a:off x="762000" y="1437138"/>
            <a:ext cx="5576143" cy="2892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6E63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decision-making for autonomous driving · minimalist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762000" y="1821521"/>
            <a:ext cx="609519" cy="47625"/>
          </a:xfrm>
          <a:prstGeom prst="roundRect">
            <a:avLst>
              <a:gd name="adj" fmla="val 50000"/>
            </a:avLst>
          </a:prstGeom>
          <a:solidFill>
            <a:srgbClr val="7C1D2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14130283" y="1233785"/>
            <a:ext cx="3395717" cy="635361"/>
          </a:xfrm>
          <a:prstGeom prst="roundRect">
            <a:avLst>
              <a:gd name="adj" fmla="val 14991"/>
            </a:avLst>
          </a:prstGeom>
          <a:solidFill>
            <a:srgbClr val="F4EBE9"/>
          </a:solidFill>
          <a:ln w="8659">
            <a:solidFill>
              <a:srgbClr val="E6D2D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14310365" y="1382613"/>
            <a:ext cx="2740074" cy="1853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50" b="1" kern="0" spc="147" dirty="0">
                <a:solidFill>
                  <a:srgbClr val="7C1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NB · UNSIGNALED SCENARIOS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4310365" y="1538477"/>
            <a:ext cx="3339108" cy="2459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3429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explicit right-of-way logic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62000" y="2738031"/>
            <a:ext cx="1530824" cy="289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221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Intersection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2113565" y="2742360"/>
            <a:ext cx="1890794" cy="251114"/>
          </a:xfrm>
          <a:prstGeom prst="roundRect">
            <a:avLst>
              <a:gd name="adj" fmla="val 50000"/>
            </a:avLst>
          </a:prstGeom>
          <a:solidFill>
            <a:srgbClr val="F4EBE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2265489" y="2789985"/>
            <a:ext cx="1700294" cy="19396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kern="0" spc="126" dirty="0">
                <a:solidFill>
                  <a:srgbClr val="7C1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CHAOTIC · REACTIVE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62000" y="3193716"/>
            <a:ext cx="8448566" cy="4953000"/>
          </a:xfrm>
          <a:prstGeom prst="roundRect">
            <a:avLst>
              <a:gd name="adj" fmla="val 2692"/>
            </a:avLst>
          </a:prstGeom>
          <a:solidFill>
            <a:srgbClr val="33312F"/>
          </a:solidFill>
          <a:ln w="8659">
            <a:solidFill>
              <a:srgbClr val="2A282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rcRect l="-18922" r="-18922"/>
          <a:stretch/>
        </p:blipFill>
        <p:spPr>
          <a:xfrm>
            <a:off x="962822" y="3208348"/>
            <a:ext cx="7960422" cy="4943103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762000" y="8379772"/>
            <a:ext cx="9293423" cy="4700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00" dirty="0">
                <a:solidFill>
                  <a:srgbClr val="3429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acceptance. </a:t>
            </a:r>
            <a:r>
              <a:rPr lang="en-US" sz="1500" dirty="0" err="1">
                <a:solidFill>
                  <a:srgbClr val="3429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</a:t>
            </a:r>
            <a:r>
              <a:rPr lang="en-US" sz="1500" dirty="0">
                <a:solidFill>
                  <a:srgbClr val="3429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reactive and local. </a:t>
            </a:r>
            <a:r>
              <a:rPr lang="en-US" sz="1500" b="1" dirty="0">
                <a:solidFill>
                  <a:srgbClr val="7C1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interdependence.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9591566" y="2724177"/>
            <a:ext cx="1040742" cy="2511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221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Roundabout</a:t>
            </a:r>
            <a:endParaRPr lang="en-US" sz="1650" dirty="0"/>
          </a:p>
        </p:txBody>
      </p:sp>
      <p:sp>
        <p:nvSpPr>
          <p:cNvPr id="17" name="Shape 14"/>
          <p:cNvSpPr/>
          <p:nvPr/>
        </p:nvSpPr>
        <p:spPr>
          <a:xfrm>
            <a:off x="10556108" y="2690406"/>
            <a:ext cx="2249875" cy="251114"/>
          </a:xfrm>
          <a:prstGeom prst="roundRect">
            <a:avLst>
              <a:gd name="adj" fmla="val 50000"/>
            </a:avLst>
          </a:prstGeom>
          <a:solidFill>
            <a:srgbClr val="F4EBE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8" name="Text 15"/>
          <p:cNvSpPr/>
          <p:nvPr/>
        </p:nvSpPr>
        <p:spPr>
          <a:xfrm>
            <a:off x="10689458" y="2738031"/>
            <a:ext cx="2059375" cy="19396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kern="0" spc="126" dirty="0">
                <a:solidFill>
                  <a:srgbClr val="7C1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· SOCIAL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9568750" y="3208348"/>
            <a:ext cx="7781816" cy="4924317"/>
          </a:xfrm>
          <a:prstGeom prst="roundRect">
            <a:avLst>
              <a:gd name="adj" fmla="val 2708"/>
            </a:avLst>
          </a:prstGeom>
          <a:solidFill>
            <a:srgbClr val="33312F"/>
          </a:solidFill>
          <a:ln w="8659">
            <a:solidFill>
              <a:srgbClr val="2A282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rcRect l="-15394" r="-15394"/>
          <a:stretch/>
        </p:blipFill>
        <p:spPr>
          <a:xfrm>
            <a:off x="9706224" y="3243708"/>
            <a:ext cx="7506868" cy="4853015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9591566" y="8365722"/>
            <a:ext cx="8287001" cy="6608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00" dirty="0">
                <a:solidFill>
                  <a:srgbClr val="3429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Yielding right of way. Cooperative decision: immediate cost for collective benefit. </a:t>
            </a:r>
            <a:r>
              <a:rPr lang="en-US" sz="1500" b="1" dirty="0">
                <a:solidFill>
                  <a:srgbClr val="7C1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interdependence.</a:t>
            </a:r>
            <a:endParaRPr lang="en-US" sz="1500" dirty="0"/>
          </a:p>
        </p:txBody>
      </p:sp>
      <p:sp>
        <p:nvSpPr>
          <p:cNvPr id="22" name="Shape 18"/>
          <p:cNvSpPr/>
          <p:nvPr/>
        </p:nvSpPr>
        <p:spPr>
          <a:xfrm>
            <a:off x="762000" y="9514717"/>
            <a:ext cx="16763999" cy="9525"/>
          </a:xfrm>
          <a:prstGeom prst="rect">
            <a:avLst/>
          </a:prstGeom>
          <a:solidFill>
            <a:srgbClr val="E7DDD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3" name="Text 19"/>
          <p:cNvSpPr/>
          <p:nvPr/>
        </p:nvSpPr>
        <p:spPr>
          <a:xfrm>
            <a:off x="762000" y="9656645"/>
            <a:ext cx="3456682" cy="2112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kern="0" spc="45" dirty="0">
                <a:solidFill>
                  <a:srgbClr val="A8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Coordination and generalization in MARL</a:t>
            </a:r>
            <a:endParaRPr lang="en-US" sz="1125" dirty="0"/>
          </a:p>
        </p:txBody>
      </p:sp>
      <p:sp>
        <p:nvSpPr>
          <p:cNvPr id="24" name="Text 20"/>
          <p:cNvSpPr/>
          <p:nvPr/>
        </p:nvSpPr>
        <p:spPr>
          <a:xfrm>
            <a:off x="17367024" y="9660974"/>
            <a:ext cx="235175" cy="2026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A8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346"/>
            <a:ext cx="1092696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97" dirty="0">
                <a:solidFill>
                  <a:srgbClr val="7C1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17287739" y="542005"/>
            <a:ext cx="314460" cy="219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kern="0" spc="120" dirty="0">
                <a:solidFill>
                  <a:srgbClr val="A8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941947"/>
            <a:ext cx="18440399" cy="47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450" b="1" kern="0" spc="-52" dirty="0">
                <a:solidFill>
                  <a:srgbClr val="221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configuration</a:t>
            </a:r>
            <a:endParaRPr lang="en-US" sz="3450" dirty="0"/>
          </a:p>
        </p:txBody>
      </p:sp>
      <p:sp>
        <p:nvSpPr>
          <p:cNvPr id="5" name="Shape 3"/>
          <p:cNvSpPr/>
          <p:nvPr/>
        </p:nvSpPr>
        <p:spPr>
          <a:xfrm>
            <a:off x="762000" y="1513311"/>
            <a:ext cx="609519" cy="47625"/>
          </a:xfrm>
          <a:prstGeom prst="roundRect">
            <a:avLst>
              <a:gd name="adj" fmla="val 50000"/>
            </a:avLst>
          </a:prstGeom>
          <a:solidFill>
            <a:srgbClr val="7C1D2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762000" y="3875620"/>
            <a:ext cx="295383" cy="3337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725" b="1" dirty="0">
                <a:solidFill>
                  <a:srgbClr val="7C1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725" dirty="0"/>
          </a:p>
        </p:txBody>
      </p:sp>
      <p:sp>
        <p:nvSpPr>
          <p:cNvPr id="7" name="Text 5"/>
          <p:cNvSpPr/>
          <p:nvPr/>
        </p:nvSpPr>
        <p:spPr>
          <a:xfrm>
            <a:off x="1152606" y="3875620"/>
            <a:ext cx="8790533" cy="3337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725" dirty="0">
                <a:solidFill>
                  <a:srgbClr val="3429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</a:t>
            </a:r>
            <a:r>
              <a:rPr lang="en-US" sz="1725" b="1" dirty="0">
                <a:solidFill>
                  <a:srgbClr val="3429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on the intersection</a:t>
            </a:r>
            <a:endParaRPr lang="en-US" sz="1725" dirty="0"/>
          </a:p>
        </p:txBody>
      </p:sp>
      <p:sp>
        <p:nvSpPr>
          <p:cNvPr id="8" name="Text 6"/>
          <p:cNvSpPr/>
          <p:nvPr/>
        </p:nvSpPr>
        <p:spPr>
          <a:xfrm>
            <a:off x="762000" y="4304515"/>
            <a:ext cx="295383" cy="3337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725" b="1" dirty="0">
                <a:solidFill>
                  <a:srgbClr val="7C1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725" dirty="0"/>
          </a:p>
        </p:txBody>
      </p:sp>
      <p:sp>
        <p:nvSpPr>
          <p:cNvPr id="9" name="Text 7"/>
          <p:cNvSpPr/>
          <p:nvPr/>
        </p:nvSpPr>
        <p:spPr>
          <a:xfrm>
            <a:off x="1152606" y="4304515"/>
            <a:ext cx="8790533" cy="3337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725" dirty="0">
                <a:solidFill>
                  <a:srgbClr val="3429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agents</a:t>
            </a:r>
            <a:endParaRPr lang="en-US" sz="1725" dirty="0"/>
          </a:p>
        </p:txBody>
      </p:sp>
      <p:sp>
        <p:nvSpPr>
          <p:cNvPr id="10" name="Text 8"/>
          <p:cNvSpPr/>
          <p:nvPr/>
        </p:nvSpPr>
        <p:spPr>
          <a:xfrm>
            <a:off x="762000" y="4733411"/>
            <a:ext cx="295383" cy="3337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725" b="1" dirty="0">
                <a:solidFill>
                  <a:srgbClr val="7C1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725" dirty="0"/>
          </a:p>
        </p:txBody>
      </p:sp>
      <p:sp>
        <p:nvSpPr>
          <p:cNvPr id="11" name="Text 9"/>
          <p:cNvSpPr/>
          <p:nvPr/>
        </p:nvSpPr>
        <p:spPr>
          <a:xfrm>
            <a:off x="1152606" y="4733411"/>
            <a:ext cx="8790533" cy="3337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725" dirty="0">
                <a:solidFill>
                  <a:srgbClr val="3429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start and destination points at every reset</a:t>
            </a:r>
            <a:endParaRPr lang="en-US" sz="1725" dirty="0"/>
          </a:p>
        </p:txBody>
      </p:sp>
      <p:sp>
        <p:nvSpPr>
          <p:cNvPr id="12" name="Text 10"/>
          <p:cNvSpPr/>
          <p:nvPr/>
        </p:nvSpPr>
        <p:spPr>
          <a:xfrm>
            <a:off x="762000" y="5162306"/>
            <a:ext cx="295383" cy="3337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725" b="1" dirty="0">
                <a:solidFill>
                  <a:srgbClr val="7C1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725" dirty="0"/>
          </a:p>
        </p:txBody>
      </p:sp>
      <p:sp>
        <p:nvSpPr>
          <p:cNvPr id="13" name="Text 11"/>
          <p:cNvSpPr/>
          <p:nvPr/>
        </p:nvSpPr>
        <p:spPr>
          <a:xfrm>
            <a:off x="1152606" y="5162306"/>
            <a:ext cx="8790533" cy="3337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725" dirty="0">
                <a:solidFill>
                  <a:srgbClr val="3429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roundabout used only in evaluation </a:t>
            </a:r>
            <a:r>
              <a:rPr lang="en-US" sz="1725" i="1" dirty="0">
                <a:solidFill>
                  <a:srgbClr val="3429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(cross-domain test)</a:t>
            </a:r>
            <a:endParaRPr lang="en-US" sz="1725" dirty="0"/>
          </a:p>
        </p:txBody>
      </p:sp>
      <p:sp>
        <p:nvSpPr>
          <p:cNvPr id="14" name="Shape 12"/>
          <p:cNvSpPr/>
          <p:nvPr/>
        </p:nvSpPr>
        <p:spPr>
          <a:xfrm>
            <a:off x="762000" y="5686452"/>
            <a:ext cx="8381999" cy="1513447"/>
          </a:xfrm>
          <a:prstGeom prst="roundRect">
            <a:avLst>
              <a:gd name="adj" fmla="val 8811"/>
            </a:avLst>
          </a:prstGeom>
          <a:solidFill>
            <a:srgbClr val="F4EBE9"/>
          </a:solidFill>
          <a:ln w="8659">
            <a:solidFill>
              <a:srgbClr val="E6D2D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1075351" y="5961784"/>
            <a:ext cx="8530828" cy="219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kern="0" spc="192" dirty="0">
                <a:solidFill>
                  <a:srgbClr val="7C1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ZERO-SHOT EVALUATION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75351" y="6295971"/>
            <a:ext cx="7987957" cy="6666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50" dirty="0">
                <a:solidFill>
                  <a:srgbClr val="3429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the </a:t>
            </a:r>
            <a:r>
              <a:rPr lang="en-US" sz="1650" b="1" dirty="0">
                <a:solidFill>
                  <a:srgbClr val="3429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density of </a:t>
            </a:r>
            <a:r>
              <a:rPr lang="en-US" sz="1650" b="1" dirty="0" err="1">
                <a:solidFill>
                  <a:srgbClr val="3429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vehicles increases</a:t>
            </a:r>
            <a:r>
              <a:rPr lang="en-US" sz="1650" b="1" dirty="0">
                <a:solidFill>
                  <a:srgbClr val="3429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50" dirty="0">
                <a:solidFill>
                  <a:srgbClr val="3429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the </a:t>
            </a:r>
            <a:r>
              <a:rPr lang="en-US" sz="1650" b="1" dirty="0">
                <a:solidFill>
                  <a:srgbClr val="3429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topology </a:t>
            </a:r>
            <a:r>
              <a:rPr lang="en-US" sz="1650" dirty="0">
                <a:solidFill>
                  <a:srgbClr val="3429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varies (roundabout introduced)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9563019" y="2860477"/>
            <a:ext cx="2376920" cy="270055"/>
          </a:xfrm>
          <a:prstGeom prst="roundRect">
            <a:avLst>
              <a:gd name="adj" fmla="val 50000"/>
            </a:avLst>
          </a:prstGeom>
          <a:solidFill>
            <a:srgbClr val="F4EBE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9715419" y="2917627"/>
            <a:ext cx="2148320" cy="19385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kern="0" spc="126" dirty="0">
                <a:solidFill>
                  <a:srgbClr val="7C1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INTERSECTION · 3 AGENTS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563019" y="3244724"/>
            <a:ext cx="7962845" cy="4970318"/>
          </a:xfrm>
          <a:prstGeom prst="roundRect">
            <a:avLst>
              <a:gd name="adj" fmla="val 3066"/>
            </a:avLst>
          </a:prstGeom>
          <a:solidFill>
            <a:srgbClr val="33312F"/>
          </a:solidFill>
          <a:ln w="8659">
            <a:solidFill>
              <a:srgbClr val="2A282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rcRect l="-30209" r="-30209"/>
          <a:stretch/>
        </p:blipFill>
        <p:spPr>
          <a:xfrm>
            <a:off x="9761738" y="3276897"/>
            <a:ext cx="7945527" cy="4953000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762000" y="9514717"/>
            <a:ext cx="16763999" cy="9525"/>
          </a:xfrm>
          <a:prstGeom prst="rect">
            <a:avLst/>
          </a:prstGeom>
          <a:solidFill>
            <a:srgbClr val="E7DDD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2" name="Text 19"/>
          <p:cNvSpPr/>
          <p:nvPr/>
        </p:nvSpPr>
        <p:spPr>
          <a:xfrm>
            <a:off x="762000" y="9656645"/>
            <a:ext cx="3456682" cy="2112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kern="0" spc="45" dirty="0">
                <a:solidFill>
                  <a:srgbClr val="A8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Coordination and generalization in MARL</a:t>
            </a:r>
            <a:endParaRPr lang="en-US" sz="1125" dirty="0"/>
          </a:p>
        </p:txBody>
      </p:sp>
      <p:sp>
        <p:nvSpPr>
          <p:cNvPr id="23" name="Text 20"/>
          <p:cNvSpPr/>
          <p:nvPr/>
        </p:nvSpPr>
        <p:spPr>
          <a:xfrm>
            <a:off x="17367024" y="9660974"/>
            <a:ext cx="235175" cy="2026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A8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346"/>
            <a:ext cx="1092696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97" dirty="0">
                <a:solidFill>
                  <a:srgbClr val="7C1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17297345" y="542005"/>
            <a:ext cx="304854" cy="219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kern="0" spc="120" dirty="0">
                <a:solidFill>
                  <a:srgbClr val="A8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941947"/>
            <a:ext cx="18440399" cy="47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450" b="1" kern="0" spc="-52" dirty="0">
                <a:solidFill>
                  <a:srgbClr val="221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Observations</a:t>
            </a:r>
            <a:endParaRPr lang="en-US" sz="3450" dirty="0"/>
          </a:p>
        </p:txBody>
      </p:sp>
      <p:sp>
        <p:nvSpPr>
          <p:cNvPr id="5" name="Text 3"/>
          <p:cNvSpPr/>
          <p:nvPr/>
        </p:nvSpPr>
        <p:spPr>
          <a:xfrm>
            <a:off x="762000" y="1437138"/>
            <a:ext cx="18440399" cy="315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6E63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Kinematics </a:t>
            </a:r>
            <a:r>
              <a:rPr lang="en-US" sz="1650" dirty="0">
                <a:solidFill>
                  <a:srgbClr val="7C1D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 × F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762000" y="1847498"/>
            <a:ext cx="609519" cy="47625"/>
          </a:xfrm>
          <a:prstGeom prst="roundRect">
            <a:avLst>
              <a:gd name="adj" fmla="val 50000"/>
            </a:avLst>
          </a:prstGeom>
          <a:solidFill>
            <a:srgbClr val="7C1D2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762000" y="3218882"/>
            <a:ext cx="7867595" cy="180975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8659">
            <a:solidFill>
              <a:srgbClr val="EBE0D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1018255" y="3436982"/>
            <a:ext cx="8090595" cy="2632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7C1D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 = 3</a:t>
            </a:r>
            <a:endParaRPr lang="en-US" sz="1575" dirty="0"/>
          </a:p>
        </p:txBody>
      </p:sp>
      <p:sp>
        <p:nvSpPr>
          <p:cNvPr id="9" name="Text 7"/>
          <p:cNvSpPr/>
          <p:nvPr/>
        </p:nvSpPr>
        <p:spPr>
          <a:xfrm>
            <a:off x="1018255" y="3719215"/>
            <a:ext cx="8090595" cy="318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>
                <a:solidFill>
                  <a:srgbClr val="3429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ego + 2 nearest vehicles, 360° vision. Beyond 3 vehicles → partial observability.</a:t>
            </a:r>
            <a:endParaRPr lang="en-US" sz="1575" dirty="0"/>
          </a:p>
        </p:txBody>
      </p:sp>
      <p:sp>
        <p:nvSpPr>
          <p:cNvPr id="10" name="Shape 8"/>
          <p:cNvSpPr/>
          <p:nvPr/>
        </p:nvSpPr>
        <p:spPr>
          <a:xfrm>
            <a:off x="762000" y="5200055"/>
            <a:ext cx="7934298" cy="1907977"/>
          </a:xfrm>
          <a:prstGeom prst="roundRect">
            <a:avLst>
              <a:gd name="adj" fmla="val 6989"/>
            </a:avLst>
          </a:prstGeom>
          <a:solidFill>
            <a:srgbClr val="FFFFFF"/>
          </a:solidFill>
          <a:ln w="8659">
            <a:solidFill>
              <a:srgbClr val="EBE0D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1018255" y="5418155"/>
            <a:ext cx="8163966" cy="2632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7C1D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 = 8</a:t>
            </a:r>
            <a:endParaRPr lang="en-US" sz="1575" dirty="0"/>
          </a:p>
        </p:txBody>
      </p:sp>
      <p:sp>
        <p:nvSpPr>
          <p:cNvPr id="12" name="Text 10"/>
          <p:cNvSpPr/>
          <p:nvPr/>
        </p:nvSpPr>
        <p:spPr>
          <a:xfrm>
            <a:off x="1018255" y="5700388"/>
            <a:ext cx="7644441" cy="83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00" dirty="0">
                <a:solidFill>
                  <a:srgbClr val="3429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presence · x · y · vx · vy cos_h · sin_h (heading) cos_d · sin_d (goal)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18255" y="6614598"/>
            <a:ext cx="8163966" cy="3134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00" dirty="0">
                <a:solidFill>
                  <a:srgbClr val="3429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Completely relative to the ego → </a:t>
            </a:r>
            <a:r>
              <a:rPr lang="en-US" sz="1500" b="1" dirty="0">
                <a:solidFill>
                  <a:srgbClr val="7C1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translational and rotational </a:t>
            </a:r>
            <a:r>
              <a:rPr lang="en-US" sz="1500" dirty="0">
                <a:solidFill>
                  <a:srgbClr val="3429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invariance.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115316" y="3077901"/>
            <a:ext cx="8410683" cy="4170164"/>
          </a:xfrm>
          <a:prstGeom prst="roundRect">
            <a:avLst>
              <a:gd name="adj" fmla="val 3198"/>
            </a:avLst>
          </a:prstGeom>
          <a:solidFill>
            <a:srgbClr val="FFFFFF"/>
          </a:solidFill>
          <a:ln w="8659">
            <a:solidFill>
              <a:srgbClr val="EBE0D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rcRect l="-20878" r="-20878"/>
          <a:stretch/>
        </p:blipFill>
        <p:spPr>
          <a:xfrm>
            <a:off x="9115316" y="3197339"/>
            <a:ext cx="8306801" cy="3931288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9115316" y="7419488"/>
            <a:ext cx="8410683" cy="912452"/>
          </a:xfrm>
          <a:prstGeom prst="roundRect">
            <a:avLst>
              <a:gd name="adj" fmla="val 12527"/>
            </a:avLst>
          </a:prstGeom>
          <a:solidFill>
            <a:srgbClr val="F4EBE9"/>
          </a:solidFill>
          <a:ln w="8659">
            <a:solidFill>
              <a:srgbClr val="E6D2D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4"/>
          <p:cNvSpPr/>
          <p:nvPr/>
        </p:nvSpPr>
        <p:spPr>
          <a:xfrm>
            <a:off x="9352494" y="7599570"/>
            <a:ext cx="8174417" cy="590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00" dirty="0">
                <a:solidFill>
                  <a:srgbClr val="3429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evaluation with density of 4+ agents, the size stays 3: each agent becomes </a:t>
            </a:r>
            <a:r>
              <a:rPr lang="en-US" sz="1500" b="1" dirty="0">
                <a:solidFill>
                  <a:srgbClr val="7C1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blind beyond the 2 nearest vehicles.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762000" y="9514717"/>
            <a:ext cx="16763999" cy="9525"/>
          </a:xfrm>
          <a:prstGeom prst="rect">
            <a:avLst/>
          </a:prstGeom>
          <a:solidFill>
            <a:srgbClr val="E7DDD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9" name="Text 16"/>
          <p:cNvSpPr/>
          <p:nvPr/>
        </p:nvSpPr>
        <p:spPr>
          <a:xfrm>
            <a:off x="762000" y="9656645"/>
            <a:ext cx="3456682" cy="2112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kern="0" spc="45" dirty="0">
                <a:solidFill>
                  <a:srgbClr val="A8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Coordination and generalization in MARL</a:t>
            </a:r>
            <a:endParaRPr lang="en-US" sz="1125" dirty="0"/>
          </a:p>
        </p:txBody>
      </p:sp>
      <p:sp>
        <p:nvSpPr>
          <p:cNvPr id="20" name="Text 17"/>
          <p:cNvSpPr/>
          <p:nvPr/>
        </p:nvSpPr>
        <p:spPr>
          <a:xfrm>
            <a:off x="17367024" y="9660974"/>
            <a:ext cx="235175" cy="2026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A8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1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346"/>
            <a:ext cx="1092696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97" dirty="0">
                <a:solidFill>
                  <a:srgbClr val="7C1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17287062" y="542005"/>
            <a:ext cx="315137" cy="219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kern="0" spc="120" dirty="0">
                <a:solidFill>
                  <a:srgbClr val="A8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941947"/>
            <a:ext cx="18440399" cy="47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450" b="1" kern="0" spc="-52" dirty="0">
                <a:solidFill>
                  <a:srgbClr val="221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Actions and reward</a:t>
            </a:r>
            <a:endParaRPr lang="en-US" sz="3450" dirty="0"/>
          </a:p>
        </p:txBody>
      </p:sp>
      <p:sp>
        <p:nvSpPr>
          <p:cNvPr id="5" name="Shape 3"/>
          <p:cNvSpPr/>
          <p:nvPr/>
        </p:nvSpPr>
        <p:spPr>
          <a:xfrm>
            <a:off x="762000" y="1513311"/>
            <a:ext cx="609519" cy="47625"/>
          </a:xfrm>
          <a:prstGeom prst="roundRect">
            <a:avLst>
              <a:gd name="adj" fmla="val 50000"/>
            </a:avLst>
          </a:prstGeom>
          <a:solidFill>
            <a:srgbClr val="7C1D2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762000" y="3999418"/>
            <a:ext cx="8191499" cy="3076818"/>
          </a:xfrm>
          <a:prstGeom prst="roundRect">
            <a:avLst>
              <a:gd name="adj" fmla="val 4953"/>
            </a:avLst>
          </a:prstGeom>
          <a:solidFill>
            <a:srgbClr val="FFFFFF"/>
          </a:solidFill>
          <a:ln w="8659">
            <a:solidFill>
              <a:srgbClr val="EBE0D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1113505" y="4312768"/>
            <a:ext cx="8237339" cy="219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kern="0" spc="192" dirty="0">
                <a:solidFill>
                  <a:srgbClr val="7C1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13505" y="4570782"/>
            <a:ext cx="8237339" cy="2632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6E63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Discrete, high-level · no steering control, only acceleration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113505" y="4986418"/>
            <a:ext cx="1219308" cy="368823"/>
          </a:xfrm>
          <a:prstGeom prst="roundRect">
            <a:avLst>
              <a:gd name="adj" fmla="val 20660"/>
            </a:avLst>
          </a:prstGeom>
          <a:solidFill>
            <a:srgbClr val="F4EBE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1227805" y="5062618"/>
            <a:ext cx="990708" cy="2545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C1D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SLOWER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485159" y="5049603"/>
            <a:ext cx="774474" cy="2805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3429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 down</a:t>
            </a:r>
            <a:endParaRPr lang="en-US" sz="1575" dirty="0"/>
          </a:p>
        </p:txBody>
      </p:sp>
      <p:sp>
        <p:nvSpPr>
          <p:cNvPr id="12" name="Shape 10"/>
          <p:cNvSpPr/>
          <p:nvPr/>
        </p:nvSpPr>
        <p:spPr>
          <a:xfrm>
            <a:off x="1113505" y="5469434"/>
            <a:ext cx="1143000" cy="368823"/>
          </a:xfrm>
          <a:prstGeom prst="roundRect">
            <a:avLst>
              <a:gd name="adj" fmla="val 20660"/>
            </a:avLst>
          </a:prstGeom>
          <a:solidFill>
            <a:srgbClr val="F4EBE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1227805" y="5545634"/>
            <a:ext cx="914400" cy="2545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C1D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IDLE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408851" y="5532618"/>
            <a:ext cx="887449" cy="2805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3429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</a:t>
            </a:r>
            <a:endParaRPr lang="en-US" sz="1575" dirty="0"/>
          </a:p>
        </p:txBody>
      </p:sp>
      <p:sp>
        <p:nvSpPr>
          <p:cNvPr id="15" name="Shape 13"/>
          <p:cNvSpPr/>
          <p:nvPr/>
        </p:nvSpPr>
        <p:spPr>
          <a:xfrm>
            <a:off x="1113505" y="5952448"/>
            <a:ext cx="1219308" cy="368823"/>
          </a:xfrm>
          <a:prstGeom prst="roundRect">
            <a:avLst>
              <a:gd name="adj" fmla="val 20660"/>
            </a:avLst>
          </a:prstGeom>
          <a:solidFill>
            <a:srgbClr val="F4EBE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1227805" y="6028648"/>
            <a:ext cx="990708" cy="2545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C1D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FASTER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485159" y="6015633"/>
            <a:ext cx="865124" cy="2805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3429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accelerate</a:t>
            </a:r>
            <a:endParaRPr lang="en-US" sz="1575" dirty="0"/>
          </a:p>
        </p:txBody>
      </p:sp>
      <p:sp>
        <p:nvSpPr>
          <p:cNvPr id="18" name="Text 16"/>
          <p:cNvSpPr/>
          <p:nvPr/>
        </p:nvSpPr>
        <p:spPr>
          <a:xfrm>
            <a:off x="1113505" y="6511772"/>
            <a:ext cx="8237339" cy="2892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3429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Speed: </a:t>
            </a:r>
            <a:r>
              <a:rPr lang="en-US" sz="1500" dirty="0">
                <a:solidFill>
                  <a:srgbClr val="7C1D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[0, 1.5, 3, 4.5, 6] m/s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9334499" y="3945163"/>
            <a:ext cx="8191499" cy="3185328"/>
          </a:xfrm>
          <a:prstGeom prst="roundRect">
            <a:avLst>
              <a:gd name="adj" fmla="val 4784"/>
            </a:avLst>
          </a:prstGeom>
          <a:solidFill>
            <a:srgbClr val="FFFFFF"/>
          </a:solidFill>
          <a:ln w="8659">
            <a:solidFill>
              <a:srgbClr val="EBE0D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9686005" y="4258514"/>
            <a:ext cx="8237339" cy="219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kern="0" spc="192" dirty="0">
                <a:solidFill>
                  <a:srgbClr val="7C1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SPARSE REWARDS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686005" y="4516528"/>
            <a:ext cx="8237339" cy="2892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6E63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Normalized to </a:t>
            </a:r>
            <a:r>
              <a:rPr lang="en-US" sz="1500" dirty="0">
                <a:solidFill>
                  <a:srgbClr val="6E63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[−1, 1]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686005" y="4958141"/>
            <a:ext cx="7440959" cy="2892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3429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arrived_reward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6526659" y="4958141"/>
            <a:ext cx="647835" cy="2892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F7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+50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686005" y="5323447"/>
            <a:ext cx="7440959" cy="2892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3429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collision_reward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6526659" y="5323447"/>
            <a:ext cx="647835" cy="2892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7C1D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−50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686005" y="5688752"/>
            <a:ext cx="7440959" cy="2892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3429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step_penalty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6526659" y="5688752"/>
            <a:ext cx="647835" cy="2892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7C1D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−0.05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9686005" y="6149307"/>
            <a:ext cx="7488490" cy="9525"/>
          </a:xfrm>
          <a:prstGeom prst="rect">
            <a:avLst/>
          </a:prstGeom>
          <a:solidFill>
            <a:srgbClr val="EBE0D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9" name="Text 27"/>
          <p:cNvSpPr/>
          <p:nvPr/>
        </p:nvSpPr>
        <p:spPr>
          <a:xfrm>
            <a:off x="9686005" y="6310366"/>
            <a:ext cx="7713145" cy="544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dirty="0">
                <a:solidFill>
                  <a:srgbClr val="3429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 reward, no team signal: </a:t>
            </a:r>
            <a:r>
              <a:rPr lang="en-US" sz="1425" b="1" dirty="0">
                <a:solidFill>
                  <a:srgbClr val="7C1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cooperation is not incentivized by a reward.</a:t>
            </a:r>
            <a:endParaRPr lang="en-US" sz="1425" dirty="0"/>
          </a:p>
        </p:txBody>
      </p:sp>
      <p:sp>
        <p:nvSpPr>
          <p:cNvPr id="30" name="Shape 28"/>
          <p:cNvSpPr/>
          <p:nvPr/>
        </p:nvSpPr>
        <p:spPr>
          <a:xfrm>
            <a:off x="762000" y="9514717"/>
            <a:ext cx="16763999" cy="9525"/>
          </a:xfrm>
          <a:prstGeom prst="rect">
            <a:avLst/>
          </a:prstGeom>
          <a:solidFill>
            <a:srgbClr val="E7DDD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1" name="Text 29"/>
          <p:cNvSpPr/>
          <p:nvPr/>
        </p:nvSpPr>
        <p:spPr>
          <a:xfrm>
            <a:off x="762000" y="9656645"/>
            <a:ext cx="3456682" cy="2112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kern="0" spc="45" dirty="0">
                <a:solidFill>
                  <a:srgbClr val="A8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Coordination and generalization in MARL</a:t>
            </a:r>
            <a:endParaRPr lang="en-US" sz="1125" dirty="0"/>
          </a:p>
        </p:txBody>
      </p:sp>
      <p:sp>
        <p:nvSpPr>
          <p:cNvPr id="32" name="Text 30"/>
          <p:cNvSpPr/>
          <p:nvPr/>
        </p:nvSpPr>
        <p:spPr>
          <a:xfrm>
            <a:off x="17367024" y="9660974"/>
            <a:ext cx="235175" cy="2026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A8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1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AAAE98-D8B6-B1D5-9AF2-C9398739F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D360950-0F8C-A107-85E4-C5F6ECFAEE60}"/>
              </a:ext>
            </a:extLst>
          </p:cNvPr>
          <p:cNvSpPr/>
          <p:nvPr/>
        </p:nvSpPr>
        <p:spPr>
          <a:xfrm>
            <a:off x="762000" y="533346"/>
            <a:ext cx="3755975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0" cap="none" spc="297" normalizeH="0" baseline="0" noProof="0" dirty="0">
                <a:ln>
                  <a:noFill/>
                </a:ln>
                <a:solidFill>
                  <a:srgbClr val="7C1D2E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EXPERIMENTAL PROTOCOL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B6C1F2C-31FD-B1FC-C65F-5F93E0EF52C2}"/>
              </a:ext>
            </a:extLst>
          </p:cNvPr>
          <p:cNvSpPr/>
          <p:nvPr/>
        </p:nvSpPr>
        <p:spPr>
          <a:xfrm>
            <a:off x="17297345" y="542005"/>
            <a:ext cx="304854" cy="219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120" normalizeH="0" baseline="0" noProof="0" dirty="0">
                <a:ln>
                  <a:noFill/>
                </a:ln>
                <a:solidFill>
                  <a:srgbClr val="A89C9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E8F9F59-544C-D7E6-4D53-0D82D30338DC}"/>
              </a:ext>
            </a:extLst>
          </p:cNvPr>
          <p:cNvSpPr/>
          <p:nvPr/>
        </p:nvSpPr>
        <p:spPr>
          <a:xfrm>
            <a:off x="762000" y="923005"/>
            <a:ext cx="18440399" cy="4572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300" b="1" i="0" u="none" strike="noStrike" kern="0" cap="none" spc="-49" normalizeH="0" baseline="0" noProof="0" dirty="0">
                <a:ln>
                  <a:noFill/>
                </a:ln>
                <a:solidFill>
                  <a:srgbClr val="221B1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Implementation of the Centralized Critic</a:t>
            </a:r>
            <a:endParaRPr kumimoji="0" lang="en-US" sz="3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9785B8A-76A5-AEE3-654E-FB752A53ADD6}"/>
              </a:ext>
            </a:extLst>
          </p:cNvPr>
          <p:cNvSpPr/>
          <p:nvPr/>
        </p:nvSpPr>
        <p:spPr>
          <a:xfrm>
            <a:off x="762000" y="1475428"/>
            <a:ext cx="609519" cy="47625"/>
          </a:xfrm>
          <a:prstGeom prst="roundRect">
            <a:avLst>
              <a:gd name="adj" fmla="val 50000"/>
            </a:avLst>
          </a:prstGeom>
          <a:solidFill>
            <a:srgbClr val="7C1D2E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32C6859-A54B-044A-0097-67A855DF661D}"/>
              </a:ext>
            </a:extLst>
          </p:cNvPr>
          <p:cNvSpPr/>
          <p:nvPr/>
        </p:nvSpPr>
        <p:spPr>
          <a:xfrm>
            <a:off x="762000" y="4224960"/>
            <a:ext cx="285777" cy="3314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50" b="1" i="0" u="none" strike="noStrike" kern="1200" cap="none" spc="0" normalizeH="0" baseline="0" noProof="0" dirty="0">
                <a:ln>
                  <a:noFill/>
                </a:ln>
                <a:solidFill>
                  <a:srgbClr val="7C1D2E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kumimoji="0" lang="en-US" sz="1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D9C4A7B-F191-7947-CE0A-5967407B7151}"/>
              </a:ext>
            </a:extLst>
          </p:cNvPr>
          <p:cNvSpPr/>
          <p:nvPr/>
        </p:nvSpPr>
        <p:spPr>
          <a:xfrm>
            <a:off x="1143000" y="4224960"/>
            <a:ext cx="7870627" cy="3314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50" b="0" i="0" u="none" strike="noStrike" kern="1200" cap="none" spc="0" normalizeH="0" baseline="0" noProof="0" dirty="0">
                <a:ln>
                  <a:noFill/>
                </a:ln>
                <a:solidFill>
                  <a:srgbClr val="34292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Framework: </a:t>
            </a:r>
            <a:r>
              <a:rPr kumimoji="0" lang="en-US" sz="1650" b="1" i="0" u="none" strike="noStrike" kern="1200" cap="none" spc="0" normalizeH="0" baseline="0" noProof="0" dirty="0">
                <a:ln>
                  <a:noFill/>
                </a:ln>
                <a:solidFill>
                  <a:srgbClr val="34292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Ray RLlib</a:t>
            </a:r>
            <a:r>
              <a:rPr kumimoji="0" lang="en-US" sz="1650" b="0" i="0" u="none" strike="noStrike" kern="1200" cap="none" spc="0" normalizeH="0" baseline="0" noProof="0" dirty="0">
                <a:ln>
                  <a:noFill/>
                </a:ln>
                <a:solidFill>
                  <a:srgbClr val="34292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, standard for distributed RL</a:t>
            </a:r>
            <a:endParaRPr kumimoji="0" lang="en-US" sz="1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09EA2790-56CF-652F-A089-FB0584941700}"/>
              </a:ext>
            </a:extLst>
          </p:cNvPr>
          <p:cNvSpPr/>
          <p:nvPr/>
        </p:nvSpPr>
        <p:spPr>
          <a:xfrm>
            <a:off x="762000" y="4670632"/>
            <a:ext cx="285777" cy="3314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50" b="1" i="0" u="none" strike="noStrike" kern="1200" cap="none" spc="0" normalizeH="0" baseline="0" noProof="0" dirty="0">
                <a:ln>
                  <a:noFill/>
                </a:ln>
                <a:solidFill>
                  <a:srgbClr val="7C1D2E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kumimoji="0" lang="en-US" sz="1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A50191C3-6868-C261-081F-D66906AC653F}"/>
              </a:ext>
            </a:extLst>
          </p:cNvPr>
          <p:cNvSpPr/>
          <p:nvPr/>
        </p:nvSpPr>
        <p:spPr>
          <a:xfrm>
            <a:off x="1143000" y="4670632"/>
            <a:ext cx="7870627" cy="3314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50" b="1" i="0" u="none" strike="noStrike" kern="1200" cap="none" spc="0" normalizeH="0" baseline="0" noProof="0" dirty="0">
                <a:ln>
                  <a:noFill/>
                </a:ln>
                <a:solidFill>
                  <a:srgbClr val="34292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IPPO </a:t>
            </a:r>
            <a:r>
              <a:rPr kumimoji="0" lang="en-US" sz="1650" b="0" i="0" u="none" strike="noStrike" kern="1200" cap="none" spc="0" normalizeH="0" baseline="0" noProof="0" dirty="0">
                <a:ln>
                  <a:noFill/>
                </a:ln>
                <a:solidFill>
                  <a:srgbClr val="34292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= default multi-agent implementation of PPO</a:t>
            </a:r>
            <a:endParaRPr kumimoji="0" lang="en-US" sz="1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B0BC9CA0-9E45-DE51-5F0B-4D11F0DC7DFE}"/>
              </a:ext>
            </a:extLst>
          </p:cNvPr>
          <p:cNvSpPr/>
          <p:nvPr/>
        </p:nvSpPr>
        <p:spPr>
          <a:xfrm>
            <a:off x="762000" y="5116305"/>
            <a:ext cx="285777" cy="3314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50" b="1" i="0" u="none" strike="noStrike" kern="1200" cap="none" spc="0" normalizeH="0" baseline="0" noProof="0" dirty="0">
                <a:ln>
                  <a:noFill/>
                </a:ln>
                <a:solidFill>
                  <a:srgbClr val="7C1D2E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kumimoji="0" lang="en-US" sz="1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DBCE9B34-F887-A24F-90A1-E7FB1E0869E4}"/>
              </a:ext>
            </a:extLst>
          </p:cNvPr>
          <p:cNvSpPr/>
          <p:nvPr/>
        </p:nvSpPr>
        <p:spPr>
          <a:xfrm>
            <a:off x="1143000" y="5116305"/>
            <a:ext cx="7870627" cy="3314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50" b="1" i="0" u="none" strike="noStrike" kern="1200" cap="none" spc="0" normalizeH="0" baseline="0" noProof="0" dirty="0">
                <a:ln>
                  <a:noFill/>
                </a:ln>
                <a:solidFill>
                  <a:srgbClr val="34292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MAPPO </a:t>
            </a:r>
            <a:r>
              <a:rPr kumimoji="0" lang="en-US" sz="1650" b="0" i="0" u="none" strike="noStrike" kern="1200" cap="none" spc="0" normalizeH="0" baseline="0" noProof="0" dirty="0">
                <a:ln>
                  <a:noFill/>
                </a:ln>
                <a:solidFill>
                  <a:srgbClr val="34292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= custom class 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7C1D2E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CentralizedCriticModel </a:t>
            </a:r>
            <a:r>
              <a:rPr kumimoji="0" lang="en-US" sz="1650" b="0" i="0" u="none" strike="noStrike" kern="1200" cap="none" spc="0" normalizeH="0" baseline="0" noProof="0" dirty="0">
                <a:ln>
                  <a:noFill/>
                </a:ln>
                <a:solidFill>
                  <a:srgbClr val="34292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(PyTorch)</a:t>
            </a:r>
            <a:endParaRPr kumimoji="0" lang="en-US" sz="1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8ADFA594-ACCE-00BA-B567-BE459BFD5D5E}"/>
              </a:ext>
            </a:extLst>
          </p:cNvPr>
          <p:cNvSpPr/>
          <p:nvPr/>
        </p:nvSpPr>
        <p:spPr>
          <a:xfrm>
            <a:off x="762000" y="5581055"/>
            <a:ext cx="7536115" cy="1231756"/>
          </a:xfrm>
          <a:prstGeom prst="roundRect">
            <a:avLst>
              <a:gd name="adj" fmla="val 10826"/>
            </a:avLst>
          </a:prstGeom>
          <a:solidFill>
            <a:srgbClr val="2A252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8C71B9FE-972E-E3C7-BE5D-D83925A5A702}"/>
              </a:ext>
            </a:extLst>
          </p:cNvPr>
          <p:cNvSpPr/>
          <p:nvPr/>
        </p:nvSpPr>
        <p:spPr>
          <a:xfrm>
            <a:off x="990519" y="5771555"/>
            <a:ext cx="7786985" cy="176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75" b="1" i="0" u="none" strike="noStrike" kern="0" cap="none" spc="156" normalizeH="0" baseline="0" noProof="0" dirty="0">
                <a:ln>
                  <a:noFill/>
                </a:ln>
                <a:solidFill>
                  <a:srgbClr val="D98A9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FORWARD()</a:t>
            </a:r>
            <a:endParaRPr kumimoji="0" lang="en-US" sz="9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9FA26CEC-223F-1F9C-DA0A-C53F8E6444A7}"/>
              </a:ext>
            </a:extLst>
          </p:cNvPr>
          <p:cNvSpPr/>
          <p:nvPr/>
        </p:nvSpPr>
        <p:spPr>
          <a:xfrm>
            <a:off x="990519" y="6005350"/>
            <a:ext cx="7291450" cy="346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marR="0" lvl="0" indent="0" algn="l" defTabSz="914400" rtl="0" eaLnBrk="1" fontAlgn="auto" latinLnBrk="0" hangingPunct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E6DCD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logits = self.actor(</a:t>
            </a: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D98A98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</a:t>
            </a: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E6DCD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2D840A13-371D-6956-4028-067A26816DE3}"/>
              </a:ext>
            </a:extLst>
          </p:cNvPr>
          <p:cNvSpPr/>
          <p:nvPr/>
        </p:nvSpPr>
        <p:spPr>
          <a:xfrm>
            <a:off x="990519" y="6313830"/>
            <a:ext cx="7291450" cy="346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marR="0" lvl="0" indent="0" algn="l" defTabSz="914400" rtl="0" eaLnBrk="1" fontAlgn="auto" latinLnBrk="0" hangingPunct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E6DCD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 = self.critic(</a:t>
            </a: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D98A98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global_state</a:t>
            </a: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E6DCD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7B7E67D4-CBB1-7768-EE96-386DE4D5F259}"/>
              </a:ext>
            </a:extLst>
          </p:cNvPr>
          <p:cNvSpPr/>
          <p:nvPr/>
        </p:nvSpPr>
        <p:spPr>
          <a:xfrm>
            <a:off x="8679115" y="3752498"/>
            <a:ext cx="4318722" cy="3532774"/>
          </a:xfrm>
          <a:prstGeom prst="roundRect">
            <a:avLst>
              <a:gd name="adj" fmla="val 4314"/>
            </a:avLst>
          </a:prstGeom>
          <a:solidFill>
            <a:srgbClr val="FFFFFF"/>
          </a:solidFill>
          <a:ln w="8659">
            <a:solidFill>
              <a:srgbClr val="EBE0D9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AB85423D-64E2-6598-7904-C10DC66BEE3A}"/>
              </a:ext>
            </a:extLst>
          </p:cNvPr>
          <p:cNvSpPr/>
          <p:nvPr/>
        </p:nvSpPr>
        <p:spPr>
          <a:xfrm>
            <a:off x="8935370" y="3989676"/>
            <a:ext cx="4186833" cy="2026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25" b="1" i="0" u="none" strike="noStrike" kern="0" cap="none" spc="158" normalizeH="0" baseline="0" noProof="0" dirty="0">
                <a:ln>
                  <a:noFill/>
                </a:ln>
                <a:solidFill>
                  <a:srgbClr val="7C1D2E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EXECUTION · DECENTRALIZED</a:t>
            </a:r>
            <a:endParaRPr kumimoji="0" lang="en-US" sz="112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A0A05C77-5D3F-5063-A27E-93D248D3F177}"/>
              </a:ext>
            </a:extLst>
          </p:cNvPr>
          <p:cNvSpPr/>
          <p:nvPr/>
        </p:nvSpPr>
        <p:spPr>
          <a:xfrm>
            <a:off x="9970266" y="4287468"/>
            <a:ext cx="1736418" cy="460420"/>
          </a:xfrm>
          <a:prstGeom prst="roundRect">
            <a:avLst>
              <a:gd name="adj" fmla="val 20688"/>
            </a:avLst>
          </a:prstGeom>
          <a:solidFill>
            <a:srgbClr val="F4EBE9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5EA2BC6B-1B92-DF86-B7C1-B1250DEFEAB4}"/>
              </a:ext>
            </a:extLst>
          </p:cNvPr>
          <p:cNvSpPr/>
          <p:nvPr/>
        </p:nvSpPr>
        <p:spPr>
          <a:xfrm>
            <a:off x="10141716" y="4382718"/>
            <a:ext cx="1469718" cy="308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25" b="0" i="0" u="none" strike="noStrike" kern="1200" cap="none" spc="0" normalizeH="0" baseline="0" noProof="0" dirty="0">
                <a:ln>
                  <a:noFill/>
                </a:ln>
                <a:solidFill>
                  <a:srgbClr val="34292A"/>
                </a:solidFill>
                <a:effectLst/>
                <a:highlight>
                  <a:srgbClr val="F4EBE9"/>
                </a:highlight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 obs o</a:t>
            </a:r>
            <a:r>
              <a:rPr kumimoji="0" lang="en-US" sz="1187" b="0" i="0" u="none" strike="noStrike" kern="1200" cap="none" spc="0" normalizeH="0" baseline="-40000" noProof="0" dirty="0">
                <a:ln>
                  <a:noFill/>
                </a:ln>
                <a:solidFill>
                  <a:srgbClr val="34292A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endParaRPr kumimoji="0" lang="en-US" sz="142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2B04F35B-493D-7189-AD3B-1806FAC401D8}"/>
              </a:ext>
            </a:extLst>
          </p:cNvPr>
          <p:cNvSpPr/>
          <p:nvPr/>
        </p:nvSpPr>
        <p:spPr>
          <a:xfrm>
            <a:off x="10785980" y="4824060"/>
            <a:ext cx="181056" cy="2805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50" b="1" i="0" u="none" strike="noStrike" kern="1200" cap="none" spc="0" normalizeH="0" baseline="0" noProof="0" dirty="0">
                <a:ln>
                  <a:noFill/>
                </a:ln>
                <a:solidFill>
                  <a:srgbClr val="7C1D2E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kumimoji="0" lang="en-US" sz="1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0CCF93C6-8976-25C0-76DD-F63F6559C00B}"/>
              </a:ext>
            </a:extLst>
          </p:cNvPr>
          <p:cNvSpPr/>
          <p:nvPr/>
        </p:nvSpPr>
        <p:spPr>
          <a:xfrm>
            <a:off x="9778143" y="5142688"/>
            <a:ext cx="2120530" cy="463667"/>
          </a:xfrm>
          <a:prstGeom prst="roundRect">
            <a:avLst>
              <a:gd name="adj" fmla="val 20543"/>
            </a:avLst>
          </a:prstGeom>
          <a:solidFill>
            <a:srgbClr val="7C1D2E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6184146A-87FF-82C2-BD82-6D3CA1E781C4}"/>
              </a:ext>
            </a:extLst>
          </p:cNvPr>
          <p:cNvSpPr/>
          <p:nvPr/>
        </p:nvSpPr>
        <p:spPr>
          <a:xfrm>
            <a:off x="9987693" y="5256988"/>
            <a:ext cx="1777630" cy="273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25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highlight>
                  <a:srgbClr val="7C1D2E"/>
                </a:highlight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Actor π(a</a:t>
            </a:r>
            <a:r>
              <a:rPr kumimoji="0" lang="en-US" sz="1187" b="1" i="0" u="none" strike="noStrike" kern="1200" cap="none" spc="0" normalizeH="0" baseline="-40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</a:t>
            </a:r>
            <a:r>
              <a:rPr kumimoji="0" lang="en-US" sz="1425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highlight>
                  <a:srgbClr val="7C1D2E"/>
                </a:highlight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o</a:t>
            </a:r>
            <a:r>
              <a:rPr kumimoji="0" lang="en-US" sz="1187" b="1" i="0" u="none" strike="noStrike" kern="1200" cap="none" spc="0" normalizeH="0" baseline="-40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kumimoji="0" lang="en-US" sz="1425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highlight>
                  <a:srgbClr val="7C1D2E"/>
                </a:highlight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kumimoji="0" lang="en-US" sz="142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3186E69B-CCCB-107B-27CD-FA5CF31DB622}"/>
              </a:ext>
            </a:extLst>
          </p:cNvPr>
          <p:cNvSpPr/>
          <p:nvPr/>
        </p:nvSpPr>
        <p:spPr>
          <a:xfrm>
            <a:off x="10785980" y="5682528"/>
            <a:ext cx="181056" cy="2805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50" b="1" i="0" u="none" strike="noStrike" kern="1200" cap="none" spc="0" normalizeH="0" baseline="0" noProof="0" dirty="0">
                <a:ln>
                  <a:noFill/>
                </a:ln>
                <a:solidFill>
                  <a:srgbClr val="7C1D2E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kumimoji="0" lang="en-US" sz="1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2F337AFE-158B-7B23-7F32-2492F9D26C4E}"/>
              </a:ext>
            </a:extLst>
          </p:cNvPr>
          <p:cNvSpPr/>
          <p:nvPr/>
        </p:nvSpPr>
        <p:spPr>
          <a:xfrm>
            <a:off x="10187420" y="6001156"/>
            <a:ext cx="1302111" cy="460420"/>
          </a:xfrm>
          <a:prstGeom prst="roundRect">
            <a:avLst>
              <a:gd name="adj" fmla="val 20688"/>
            </a:avLst>
          </a:prstGeom>
          <a:solidFill>
            <a:srgbClr val="F4EBE9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D19F317F-71CE-1C4A-22C1-70167DB9BF43}"/>
              </a:ext>
            </a:extLst>
          </p:cNvPr>
          <p:cNvSpPr/>
          <p:nvPr/>
        </p:nvSpPr>
        <p:spPr>
          <a:xfrm>
            <a:off x="10358870" y="6096406"/>
            <a:ext cx="1035411" cy="308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25" b="0" i="0" u="none" strike="noStrike" kern="1200" cap="none" spc="0" normalizeH="0" baseline="0" noProof="0" dirty="0">
                <a:ln>
                  <a:noFill/>
                </a:ln>
                <a:solidFill>
                  <a:srgbClr val="34292A"/>
                </a:solidFill>
                <a:effectLst/>
                <a:highlight>
                  <a:srgbClr val="F4EBE9"/>
                </a:highlight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 a</a:t>
            </a:r>
            <a:r>
              <a:rPr kumimoji="0" lang="en-US" sz="1187" b="0" i="0" u="none" strike="noStrike" kern="1200" cap="none" spc="0" normalizeH="0" baseline="-40000" noProof="0" dirty="0">
                <a:ln>
                  <a:noFill/>
                </a:ln>
                <a:solidFill>
                  <a:srgbClr val="34292A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endParaRPr kumimoji="0" lang="en-US" sz="142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8A200B9D-1EF3-1237-BC90-A378C705FB4D}"/>
              </a:ext>
            </a:extLst>
          </p:cNvPr>
          <p:cNvSpPr/>
          <p:nvPr/>
        </p:nvSpPr>
        <p:spPr>
          <a:xfrm>
            <a:off x="8878277" y="6594845"/>
            <a:ext cx="3920398" cy="4913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marR="0" lvl="0" indent="0" algn="ctr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75" b="0" i="0" u="none" strike="noStrike" kern="1200" cap="none" spc="0" normalizeH="0" baseline="0" noProof="0" dirty="0">
                <a:ln>
                  <a:noFill/>
                </a:ln>
                <a:solidFill>
                  <a:srgbClr val="6E636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Local observations only: used in training </a:t>
            </a:r>
            <a:r>
              <a:rPr kumimoji="0" lang="en-US" sz="1275" b="1" i="0" u="none" strike="noStrike" kern="1200" cap="none" spc="0" normalizeH="0" baseline="0" noProof="0" dirty="0">
                <a:ln>
                  <a:noFill/>
                </a:ln>
                <a:solidFill>
                  <a:srgbClr val="6E636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and </a:t>
            </a:r>
            <a:r>
              <a:rPr kumimoji="0" lang="en-US" sz="1275" b="0" i="0" u="none" strike="noStrike" kern="1200" cap="none" spc="0" normalizeH="0" baseline="0" noProof="0" dirty="0">
                <a:ln>
                  <a:noFill/>
                </a:ln>
                <a:solidFill>
                  <a:srgbClr val="6E636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execution</a:t>
            </a:r>
            <a:endParaRPr kumimoji="0" lang="en-US" sz="12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2A515880-64F1-1A70-9BB3-A0159E7F6F3C}"/>
              </a:ext>
            </a:extLst>
          </p:cNvPr>
          <p:cNvSpPr/>
          <p:nvPr/>
        </p:nvSpPr>
        <p:spPr>
          <a:xfrm>
            <a:off x="13207278" y="3752498"/>
            <a:ext cx="4318722" cy="3532774"/>
          </a:xfrm>
          <a:prstGeom prst="roundRect">
            <a:avLst>
              <a:gd name="adj" fmla="val 4314"/>
            </a:avLst>
          </a:prstGeom>
          <a:solidFill>
            <a:srgbClr val="FFFFFF"/>
          </a:solidFill>
          <a:ln w="8659">
            <a:solidFill>
              <a:srgbClr val="EBE0D9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6F7BB8A4-983C-D8F9-F767-711C8D1860CB}"/>
              </a:ext>
            </a:extLst>
          </p:cNvPr>
          <p:cNvSpPr/>
          <p:nvPr/>
        </p:nvSpPr>
        <p:spPr>
          <a:xfrm>
            <a:off x="13463533" y="3989676"/>
            <a:ext cx="4186833" cy="2026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25" b="1" i="0" u="none" strike="noStrike" kern="0" cap="none" spc="158" normalizeH="0" baseline="0" noProof="0" dirty="0">
                <a:ln>
                  <a:noFill/>
                </a:ln>
                <a:solidFill>
                  <a:srgbClr val="7C1D2E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TRAINING · CENTRALIZED</a:t>
            </a:r>
            <a:endParaRPr kumimoji="0" lang="en-US" sz="112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5B6F33CA-27E0-B30C-D5BF-00ED0C2AEDE4}"/>
              </a:ext>
            </a:extLst>
          </p:cNvPr>
          <p:cNvSpPr/>
          <p:nvPr/>
        </p:nvSpPr>
        <p:spPr>
          <a:xfrm>
            <a:off x="14253945" y="4287468"/>
            <a:ext cx="2225386" cy="460420"/>
          </a:xfrm>
          <a:prstGeom prst="roundRect">
            <a:avLst>
              <a:gd name="adj" fmla="val 20688"/>
            </a:avLst>
          </a:prstGeom>
          <a:solidFill>
            <a:srgbClr val="F4EBE9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D50FDD8F-994D-9C02-69C8-1843C8111541}"/>
              </a:ext>
            </a:extLst>
          </p:cNvPr>
          <p:cNvSpPr/>
          <p:nvPr/>
        </p:nvSpPr>
        <p:spPr>
          <a:xfrm>
            <a:off x="14425395" y="4382718"/>
            <a:ext cx="1958686" cy="308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25" b="0" i="0" u="none" strike="noStrike" kern="1200" cap="none" spc="0" normalizeH="0" baseline="0" noProof="0" dirty="0">
                <a:ln>
                  <a:noFill/>
                </a:ln>
                <a:solidFill>
                  <a:srgbClr val="34292A"/>
                </a:solidFill>
                <a:effectLst/>
                <a:highlight>
                  <a:srgbClr val="F4EBE9"/>
                </a:highlight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= [o</a:t>
            </a:r>
            <a:r>
              <a:rPr kumimoji="0" lang="en-US" sz="1187" b="0" i="0" u="none" strike="noStrike" kern="1200" cap="none" spc="0" normalizeH="0" baseline="-40000" noProof="0" dirty="0">
                <a:ln>
                  <a:noFill/>
                </a:ln>
                <a:solidFill>
                  <a:srgbClr val="34292A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</a:t>
            </a:r>
            <a:r>
              <a:rPr kumimoji="0" lang="en-US" sz="1425" b="0" i="0" u="none" strike="noStrike" kern="1200" cap="none" spc="0" normalizeH="0" baseline="0" noProof="0" dirty="0">
                <a:ln>
                  <a:noFill/>
                </a:ln>
                <a:solidFill>
                  <a:srgbClr val="34292A"/>
                </a:solidFill>
                <a:effectLst/>
                <a:highlight>
                  <a:srgbClr val="F4EBE9"/>
                </a:highlight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‖ o</a:t>
            </a:r>
            <a:r>
              <a:rPr kumimoji="0" lang="en-US" sz="1187" b="0" i="0" u="none" strike="noStrike" kern="1200" cap="none" spc="0" normalizeH="0" baseline="-40000" noProof="0" dirty="0">
                <a:ln>
                  <a:noFill/>
                </a:ln>
                <a:solidFill>
                  <a:srgbClr val="34292A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</a:t>
            </a:r>
            <a:r>
              <a:rPr kumimoji="0" lang="en-US" sz="1425" b="0" i="0" u="none" strike="noStrike" kern="1200" cap="none" spc="0" normalizeH="0" baseline="0" noProof="0" dirty="0">
                <a:ln>
                  <a:noFill/>
                </a:ln>
                <a:solidFill>
                  <a:srgbClr val="34292A"/>
                </a:solidFill>
                <a:effectLst/>
                <a:highlight>
                  <a:srgbClr val="F4EBE9"/>
                </a:highlight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‖ o</a:t>
            </a:r>
            <a:r>
              <a:rPr kumimoji="0" lang="en-US" sz="1187" b="0" i="0" u="none" strike="noStrike" kern="1200" cap="none" spc="0" normalizeH="0" baseline="-40000" noProof="0" dirty="0">
                <a:ln>
                  <a:noFill/>
                </a:ln>
                <a:solidFill>
                  <a:srgbClr val="34292A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r>
              <a:rPr kumimoji="0" lang="en-US" sz="1425" b="0" i="0" u="none" strike="noStrike" kern="1200" cap="none" spc="0" normalizeH="0" baseline="0" noProof="0" dirty="0">
                <a:ln>
                  <a:noFill/>
                </a:ln>
                <a:solidFill>
                  <a:srgbClr val="34292A"/>
                </a:solidFill>
                <a:effectLst/>
                <a:highlight>
                  <a:srgbClr val="F4EBE9"/>
                </a:highlight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kumimoji="0" lang="en-US" sz="142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A5BD80AB-D6E6-7935-1C8E-8C00AB733701}"/>
              </a:ext>
            </a:extLst>
          </p:cNvPr>
          <p:cNvSpPr/>
          <p:nvPr/>
        </p:nvSpPr>
        <p:spPr>
          <a:xfrm>
            <a:off x="15314143" y="4824060"/>
            <a:ext cx="181056" cy="2805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50" b="1" i="0" u="none" strike="noStrike" kern="1200" cap="none" spc="0" normalizeH="0" baseline="0" noProof="0" dirty="0">
                <a:ln>
                  <a:noFill/>
                </a:ln>
                <a:solidFill>
                  <a:srgbClr val="7C1D2E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kumimoji="0" lang="en-US" sz="1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34BB4D70-4ADF-4626-0873-0ECA76AA5727}"/>
              </a:ext>
            </a:extLst>
          </p:cNvPr>
          <p:cNvSpPr/>
          <p:nvPr/>
        </p:nvSpPr>
        <p:spPr>
          <a:xfrm>
            <a:off x="14559855" y="5142688"/>
            <a:ext cx="1613567" cy="427543"/>
          </a:xfrm>
          <a:prstGeom prst="roundRect">
            <a:avLst>
              <a:gd name="adj" fmla="val 22278"/>
            </a:avLst>
          </a:prstGeom>
          <a:solidFill>
            <a:srgbClr val="3E2B3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DF2FE109-8601-3EF0-A35A-E58BBFF80724}"/>
              </a:ext>
            </a:extLst>
          </p:cNvPr>
          <p:cNvSpPr/>
          <p:nvPr/>
        </p:nvSpPr>
        <p:spPr>
          <a:xfrm>
            <a:off x="14769405" y="5256988"/>
            <a:ext cx="1270667" cy="2370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25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Critic V(s)</a:t>
            </a:r>
            <a:endParaRPr kumimoji="0" lang="en-US" sz="142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B5894F78-B580-B5E8-83C4-BD4FE13FFEDB}"/>
              </a:ext>
            </a:extLst>
          </p:cNvPr>
          <p:cNvSpPr/>
          <p:nvPr/>
        </p:nvSpPr>
        <p:spPr>
          <a:xfrm>
            <a:off x="15314143" y="5646404"/>
            <a:ext cx="181056" cy="2805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50" b="1" i="0" u="none" strike="noStrike" kern="1200" cap="none" spc="0" normalizeH="0" baseline="0" noProof="0" dirty="0">
                <a:ln>
                  <a:noFill/>
                </a:ln>
                <a:solidFill>
                  <a:srgbClr val="7C1D2E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kumimoji="0" lang="en-US" sz="1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A8DC8DC4-ADDC-E82A-B8DC-93FE5579502F}"/>
              </a:ext>
            </a:extLst>
          </p:cNvPr>
          <p:cNvSpPr/>
          <p:nvPr/>
        </p:nvSpPr>
        <p:spPr>
          <a:xfrm>
            <a:off x="13915699" y="5965031"/>
            <a:ext cx="2901742" cy="406977"/>
          </a:xfrm>
          <a:prstGeom prst="roundRect">
            <a:avLst>
              <a:gd name="adj" fmla="val 23404"/>
            </a:avLst>
          </a:prstGeom>
          <a:solidFill>
            <a:srgbClr val="F4EBE9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D744A1A2-B043-5D8C-C050-17DC136A1128}"/>
              </a:ext>
            </a:extLst>
          </p:cNvPr>
          <p:cNvSpPr/>
          <p:nvPr/>
        </p:nvSpPr>
        <p:spPr>
          <a:xfrm>
            <a:off x="14087149" y="6060281"/>
            <a:ext cx="2645895" cy="2545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25" b="0" i="0" u="none" strike="noStrike" kern="1200" cap="none" spc="0" normalizeH="0" baseline="0" noProof="0" dirty="0">
                <a:ln>
                  <a:noFill/>
                </a:ln>
                <a:solidFill>
                  <a:srgbClr val="34292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advantage → actor update</a:t>
            </a:r>
            <a:endParaRPr kumimoji="0" lang="en-US" sz="142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6936B6BB-CDA9-8D72-7D6F-C820306768FC}"/>
              </a:ext>
            </a:extLst>
          </p:cNvPr>
          <p:cNvSpPr/>
          <p:nvPr/>
        </p:nvSpPr>
        <p:spPr>
          <a:xfrm>
            <a:off x="13273222" y="6505277"/>
            <a:ext cx="4186833" cy="264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75" b="0" i="0" u="none" strike="noStrike" kern="1200" cap="none" spc="0" normalizeH="0" baseline="0" noProof="0" dirty="0">
                <a:ln>
                  <a:noFill/>
                </a:ln>
                <a:solidFill>
                  <a:srgbClr val="6E636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Global state: used </a:t>
            </a:r>
            <a:r>
              <a:rPr kumimoji="0" lang="en-US" sz="1275" b="1" i="0" u="none" strike="noStrike" kern="1200" cap="none" spc="0" normalizeH="0" baseline="0" noProof="0" dirty="0">
                <a:ln>
                  <a:noFill/>
                </a:ln>
                <a:solidFill>
                  <a:srgbClr val="6E636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only </a:t>
            </a:r>
            <a:r>
              <a:rPr kumimoji="0" lang="en-US" sz="1275" b="0" i="0" u="none" strike="noStrike" kern="1200" cap="none" spc="0" normalizeH="0" baseline="0" noProof="0" dirty="0">
                <a:ln>
                  <a:noFill/>
                </a:ln>
                <a:solidFill>
                  <a:srgbClr val="6E636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in training</a:t>
            </a:r>
            <a:endParaRPr kumimoji="0" lang="en-US" sz="12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9C0516CC-FADD-C1E8-C3B5-E7B3DA9E642F}"/>
              </a:ext>
            </a:extLst>
          </p:cNvPr>
          <p:cNvSpPr/>
          <p:nvPr/>
        </p:nvSpPr>
        <p:spPr>
          <a:xfrm>
            <a:off x="762000" y="9514717"/>
            <a:ext cx="16763999" cy="9525"/>
          </a:xfrm>
          <a:prstGeom prst="rect">
            <a:avLst/>
          </a:prstGeom>
          <a:solidFill>
            <a:srgbClr val="E7DDD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6CC2862C-8EE2-3D89-34C1-21984F3632FD}"/>
              </a:ext>
            </a:extLst>
          </p:cNvPr>
          <p:cNvSpPr/>
          <p:nvPr/>
        </p:nvSpPr>
        <p:spPr>
          <a:xfrm>
            <a:off x="762000" y="9656645"/>
            <a:ext cx="3456682" cy="2112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25" b="0" i="0" u="none" strike="noStrike" kern="0" cap="none" spc="45" normalizeH="0" baseline="0" noProof="0" dirty="0">
                <a:ln>
                  <a:noFill/>
                </a:ln>
                <a:solidFill>
                  <a:srgbClr val="A89C9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Coordination and generalization in MARL</a:t>
            </a:r>
            <a:endParaRPr kumimoji="0" lang="en-US" sz="112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7D6DFF6E-C95F-0A23-D94A-E3CD11A977B7}"/>
              </a:ext>
            </a:extLst>
          </p:cNvPr>
          <p:cNvSpPr/>
          <p:nvPr/>
        </p:nvSpPr>
        <p:spPr>
          <a:xfrm>
            <a:off x="17367024" y="9660974"/>
            <a:ext cx="235175" cy="2026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25" b="1" i="0" u="none" strike="noStrike" kern="1200" cap="none" spc="0" normalizeH="0" baseline="0" noProof="0" dirty="0">
                <a:ln>
                  <a:noFill/>
                </a:ln>
                <a:solidFill>
                  <a:srgbClr val="A89C9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kumimoji="0" lang="en-US" sz="112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57304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346"/>
            <a:ext cx="3755975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97" dirty="0">
                <a:solidFill>
                  <a:srgbClr val="7C1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EXPERIMENTAL PROTOCOL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17288145" y="542005"/>
            <a:ext cx="314054" cy="219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kern="0" spc="120" dirty="0">
                <a:solidFill>
                  <a:srgbClr val="A8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923005"/>
            <a:ext cx="18440399" cy="4572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kern="0" spc="-49" dirty="0">
                <a:solidFill>
                  <a:srgbClr val="221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baseline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762000" y="1475428"/>
            <a:ext cx="609519" cy="47625"/>
          </a:xfrm>
          <a:prstGeom prst="roundRect">
            <a:avLst>
              <a:gd name="adj" fmla="val 50000"/>
            </a:avLst>
          </a:prstGeom>
          <a:solidFill>
            <a:srgbClr val="7C1D2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762000" y="3583916"/>
            <a:ext cx="8466649" cy="617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75" dirty="0">
                <a:solidFill>
                  <a:srgbClr val="3429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IPPO and MAPPO share the same hyperparameters: the only difference is the critic. 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575" dirty="0" err="1">
                <a:solidFill>
                  <a:srgbClr val="3429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</a:t>
            </a:r>
            <a:r>
              <a:rPr lang="en-US" sz="1575" dirty="0">
                <a:solidFill>
                  <a:srgbClr val="3429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via </a:t>
            </a:r>
            <a:r>
              <a:rPr lang="en-US" sz="1575" b="1" dirty="0">
                <a:solidFill>
                  <a:srgbClr val="7C1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Optuna</a:t>
            </a:r>
            <a:r>
              <a:rPr lang="en-US" sz="1575" dirty="0">
                <a:solidFill>
                  <a:srgbClr val="3429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575" dirty="0"/>
          </a:p>
        </p:txBody>
      </p:sp>
      <p:sp>
        <p:nvSpPr>
          <p:cNvPr id="7" name="Shape 5"/>
          <p:cNvSpPr/>
          <p:nvPr/>
        </p:nvSpPr>
        <p:spPr>
          <a:xfrm>
            <a:off x="762000" y="4316151"/>
            <a:ext cx="8220048" cy="2119042"/>
          </a:xfrm>
          <a:prstGeom prst="roundRect">
            <a:avLst>
              <a:gd name="adj" fmla="val 6293"/>
            </a:avLst>
          </a:prstGeom>
          <a:solidFill>
            <a:srgbClr val="2A2522"/>
          </a:solidFill>
          <a:ln/>
        </p:spPr>
        <p:txBody>
          <a:bodyPr/>
          <a:lstStyle/>
          <a:p>
            <a:endParaRPr lang="it-IT" dirty="0"/>
          </a:p>
        </p:txBody>
      </p:sp>
      <p:sp>
        <p:nvSpPr>
          <p:cNvPr id="8" name="Text 6"/>
          <p:cNvSpPr/>
          <p:nvPr/>
        </p:nvSpPr>
        <p:spPr>
          <a:xfrm>
            <a:off x="1028673" y="4544670"/>
            <a:ext cx="8455372" cy="176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b="1" kern="0" spc="156" dirty="0">
                <a:solidFill>
                  <a:srgbClr val="D98A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IPPO · MAPPO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1028673" y="4797407"/>
            <a:ext cx="7917303" cy="390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85000"/>
              </a:lnSpc>
              <a:buNone/>
            </a:pPr>
            <a:r>
              <a:rPr lang="en-US" sz="1500" dirty="0">
                <a:solidFill>
                  <a:srgbClr val="D98A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gamma </a:t>
            </a:r>
            <a:r>
              <a:rPr lang="en-US" sz="1500" dirty="0">
                <a:solidFill>
                  <a:srgbClr val="E6DC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0.975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28673" y="5149723"/>
            <a:ext cx="7917303" cy="390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85000"/>
              </a:lnSpc>
              <a:buNone/>
            </a:pPr>
            <a:r>
              <a:rPr lang="en-US" sz="1500" dirty="0">
                <a:solidFill>
                  <a:srgbClr val="D98A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clip_param </a:t>
            </a:r>
            <a:r>
              <a:rPr lang="en-US" sz="1500" dirty="0">
                <a:solidFill>
                  <a:srgbClr val="E6DC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0.2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28673" y="5502040"/>
            <a:ext cx="7917303" cy="390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85000"/>
              </a:lnSpc>
              <a:buNone/>
            </a:pPr>
            <a:r>
              <a:rPr lang="en-US" sz="1500" dirty="0">
                <a:solidFill>
                  <a:srgbClr val="D98A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lr </a:t>
            </a:r>
            <a:r>
              <a:rPr lang="en-US" sz="1500" dirty="0">
                <a:solidFill>
                  <a:srgbClr val="E6DC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3e-4 </a:t>
            </a:r>
            <a:r>
              <a:rPr lang="en-US" sz="1500" dirty="0">
                <a:solidFill>
                  <a:srgbClr val="D98A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entropy_coeff </a:t>
            </a:r>
            <a:r>
              <a:rPr lang="en-US" sz="1500" dirty="0">
                <a:solidFill>
                  <a:srgbClr val="E6DC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0.01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28673" y="5854357"/>
            <a:ext cx="7917303" cy="390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85000"/>
              </a:lnSpc>
              <a:buNone/>
            </a:pPr>
            <a:r>
              <a:rPr lang="en-US" sz="1500" dirty="0">
                <a:solidFill>
                  <a:srgbClr val="D98A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use_gae </a:t>
            </a:r>
            <a:r>
              <a:rPr lang="en-US" sz="1500" dirty="0">
                <a:solidFill>
                  <a:srgbClr val="E6DC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True </a:t>
            </a:r>
            <a:r>
              <a:rPr lang="en-US" sz="1500" dirty="0">
                <a:solidFill>
                  <a:srgbClr val="D98A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lambda </a:t>
            </a:r>
            <a:r>
              <a:rPr lang="en-US" sz="1500" dirty="0">
                <a:solidFill>
                  <a:srgbClr val="E6DC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0.95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305816" y="3583916"/>
            <a:ext cx="9042201" cy="3280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75" dirty="0">
                <a:solidFill>
                  <a:srgbClr val="3429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MASAC: </a:t>
            </a:r>
            <a:r>
              <a:rPr lang="en-US" sz="1575" dirty="0" err="1">
                <a:solidFill>
                  <a:srgbClr val="3429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hyperparameters</a:t>
            </a:r>
            <a:r>
              <a:rPr lang="en-US" sz="1575" dirty="0">
                <a:solidFill>
                  <a:srgbClr val="3429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from literature standards. Manual tuning, less exhaustive.</a:t>
            </a:r>
            <a:endParaRPr lang="en-US" sz="1575" dirty="0"/>
          </a:p>
        </p:txBody>
      </p:sp>
      <p:sp>
        <p:nvSpPr>
          <p:cNvPr id="14" name="Shape 12"/>
          <p:cNvSpPr/>
          <p:nvPr/>
        </p:nvSpPr>
        <p:spPr>
          <a:xfrm>
            <a:off x="9305816" y="4026207"/>
            <a:ext cx="8220183" cy="2636152"/>
          </a:xfrm>
          <a:prstGeom prst="roundRect">
            <a:avLst>
              <a:gd name="adj" fmla="val 5059"/>
            </a:avLst>
          </a:prstGeom>
          <a:solidFill>
            <a:srgbClr val="2A252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9572490" y="4254725"/>
            <a:ext cx="8455521" cy="176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b="1" kern="0" spc="156" dirty="0">
                <a:solidFill>
                  <a:srgbClr val="D98A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MASAC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9572490" y="4507463"/>
            <a:ext cx="7917442" cy="3132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275" dirty="0">
                <a:solidFill>
                  <a:srgbClr val="D98A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gamma </a:t>
            </a:r>
            <a:r>
              <a:rPr lang="en-US" sz="1275" dirty="0">
                <a:solidFill>
                  <a:srgbClr val="E6DC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0.975</a:t>
            </a:r>
            <a:endParaRPr lang="en-US" sz="1275" dirty="0"/>
          </a:p>
        </p:txBody>
      </p:sp>
      <p:sp>
        <p:nvSpPr>
          <p:cNvPr id="17" name="Text 15"/>
          <p:cNvSpPr/>
          <p:nvPr/>
        </p:nvSpPr>
        <p:spPr>
          <a:xfrm>
            <a:off x="9572490" y="4782659"/>
            <a:ext cx="7917442" cy="3132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275" dirty="0">
                <a:solidFill>
                  <a:srgbClr val="D98A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train_batch_size_per_learner </a:t>
            </a:r>
            <a:r>
              <a:rPr lang="en-US" sz="1275" dirty="0">
                <a:solidFill>
                  <a:srgbClr val="E6DC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512</a:t>
            </a:r>
            <a:endParaRPr lang="en-US" sz="1275" dirty="0"/>
          </a:p>
        </p:txBody>
      </p:sp>
      <p:sp>
        <p:nvSpPr>
          <p:cNvPr id="18" name="Text 16"/>
          <p:cNvSpPr/>
          <p:nvPr/>
        </p:nvSpPr>
        <p:spPr>
          <a:xfrm>
            <a:off x="9572490" y="5057856"/>
            <a:ext cx="7917442" cy="3132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275" dirty="0">
                <a:solidFill>
                  <a:srgbClr val="D98A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actor_lr </a:t>
            </a:r>
            <a:r>
              <a:rPr lang="en-US" sz="1275" dirty="0">
                <a:solidFill>
                  <a:srgbClr val="E6DC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1e-4 </a:t>
            </a:r>
            <a:r>
              <a:rPr lang="en-US" sz="1275" dirty="0">
                <a:solidFill>
                  <a:srgbClr val="D98A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critic_lr </a:t>
            </a:r>
            <a:r>
              <a:rPr lang="en-US" sz="1275" dirty="0">
                <a:solidFill>
                  <a:srgbClr val="E6DC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3e-4</a:t>
            </a:r>
            <a:endParaRPr lang="en-US" sz="1275" dirty="0"/>
          </a:p>
        </p:txBody>
      </p:sp>
      <p:sp>
        <p:nvSpPr>
          <p:cNvPr id="19" name="Text 17"/>
          <p:cNvSpPr/>
          <p:nvPr/>
        </p:nvSpPr>
        <p:spPr>
          <a:xfrm>
            <a:off x="9572490" y="5333053"/>
            <a:ext cx="7917442" cy="3132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275" dirty="0">
                <a:solidFill>
                  <a:srgbClr val="D98A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alpha_lr </a:t>
            </a:r>
            <a:r>
              <a:rPr lang="en-US" sz="1275" dirty="0">
                <a:solidFill>
                  <a:srgbClr val="E6DC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1e-4 </a:t>
            </a:r>
            <a:r>
              <a:rPr lang="en-US" sz="1275" dirty="0">
                <a:solidFill>
                  <a:srgbClr val="D98A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initial_alpha </a:t>
            </a:r>
            <a:r>
              <a:rPr lang="en-US" sz="1275" dirty="0">
                <a:solidFill>
                  <a:srgbClr val="E6DC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0.1</a:t>
            </a:r>
            <a:endParaRPr lang="en-US" sz="1275" dirty="0"/>
          </a:p>
        </p:txBody>
      </p:sp>
      <p:sp>
        <p:nvSpPr>
          <p:cNvPr id="20" name="Text 18"/>
          <p:cNvSpPr/>
          <p:nvPr/>
        </p:nvSpPr>
        <p:spPr>
          <a:xfrm>
            <a:off x="9572490" y="5608250"/>
            <a:ext cx="7917442" cy="3132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275" dirty="0">
                <a:solidFill>
                  <a:srgbClr val="D98A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num_steps_sampled_before_learning_starts </a:t>
            </a:r>
            <a:r>
              <a:rPr lang="en-US" sz="1275" dirty="0">
                <a:solidFill>
                  <a:srgbClr val="E6DC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20000</a:t>
            </a:r>
            <a:endParaRPr lang="en-US" sz="1275" dirty="0"/>
          </a:p>
        </p:txBody>
      </p:sp>
      <p:sp>
        <p:nvSpPr>
          <p:cNvPr id="21" name="Text 19"/>
          <p:cNvSpPr/>
          <p:nvPr/>
        </p:nvSpPr>
        <p:spPr>
          <a:xfrm>
            <a:off x="9572490" y="5883446"/>
            <a:ext cx="7917442" cy="3132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275" dirty="0">
                <a:solidFill>
                  <a:srgbClr val="D98A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target_entropy </a:t>
            </a:r>
            <a:r>
              <a:rPr lang="en-US" sz="1275" dirty="0">
                <a:solidFill>
                  <a:srgbClr val="E6DC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0.8 </a:t>
            </a:r>
            <a:r>
              <a:rPr lang="en-US" sz="1275" dirty="0">
                <a:solidFill>
                  <a:srgbClr val="D98A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tau </a:t>
            </a:r>
            <a:r>
              <a:rPr lang="en-US" sz="1275" dirty="0">
                <a:solidFill>
                  <a:srgbClr val="E6DC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0.005</a:t>
            </a:r>
            <a:endParaRPr lang="en-US" sz="1275" dirty="0"/>
          </a:p>
        </p:txBody>
      </p:sp>
      <p:sp>
        <p:nvSpPr>
          <p:cNvPr id="22" name="Text 20"/>
          <p:cNvSpPr/>
          <p:nvPr/>
        </p:nvSpPr>
        <p:spPr>
          <a:xfrm>
            <a:off x="9572490" y="6158643"/>
            <a:ext cx="7917442" cy="3132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275" dirty="0">
                <a:solidFill>
                  <a:srgbClr val="D98A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buffer_capacity </a:t>
            </a:r>
            <a:r>
              <a:rPr lang="en-US" sz="1275" dirty="0">
                <a:solidFill>
                  <a:srgbClr val="E6DC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500000</a:t>
            </a:r>
            <a:endParaRPr lang="en-US" sz="1275" dirty="0"/>
          </a:p>
        </p:txBody>
      </p:sp>
      <p:sp>
        <p:nvSpPr>
          <p:cNvPr id="23" name="Shape 21"/>
          <p:cNvSpPr/>
          <p:nvPr/>
        </p:nvSpPr>
        <p:spPr>
          <a:xfrm>
            <a:off x="762000" y="8723357"/>
            <a:ext cx="16763999" cy="619937"/>
          </a:xfrm>
          <a:prstGeom prst="roundRect">
            <a:avLst>
              <a:gd name="adj" fmla="val 18437"/>
            </a:avLst>
          </a:prstGeom>
          <a:solidFill>
            <a:srgbClr val="F4EBE9"/>
          </a:solidFill>
          <a:ln w="8659">
            <a:solidFill>
              <a:srgbClr val="E6D2D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785899" y="8903466"/>
            <a:ext cx="16716201" cy="2978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725" dirty="0">
                <a:solidFill>
                  <a:srgbClr val="5A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only difference between IPPO and MAPPO is the </a:t>
            </a:r>
            <a:r>
              <a:rPr lang="en-US" sz="1725" b="1" dirty="0">
                <a:solidFill>
                  <a:srgbClr val="5A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</a:t>
            </a:r>
            <a:r>
              <a:rPr lang="en-US" sz="1725" dirty="0">
                <a:solidFill>
                  <a:srgbClr val="5A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same code, same hyperparameters.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62000" y="9514717"/>
            <a:ext cx="16763999" cy="9525"/>
          </a:xfrm>
          <a:prstGeom prst="rect">
            <a:avLst/>
          </a:prstGeom>
          <a:solidFill>
            <a:srgbClr val="E7DDD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/>
          <p:nvPr/>
        </p:nvSpPr>
        <p:spPr>
          <a:xfrm>
            <a:off x="762000" y="9656645"/>
            <a:ext cx="3456682" cy="2112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kern="0" spc="45" dirty="0">
                <a:solidFill>
                  <a:srgbClr val="A8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Coordination and generalization in MARL</a:t>
            </a:r>
            <a:endParaRPr lang="en-US" sz="1125" dirty="0"/>
          </a:p>
        </p:txBody>
      </p:sp>
      <p:sp>
        <p:nvSpPr>
          <p:cNvPr id="27" name="Text 25"/>
          <p:cNvSpPr/>
          <p:nvPr/>
        </p:nvSpPr>
        <p:spPr>
          <a:xfrm>
            <a:off x="17367024" y="9660974"/>
            <a:ext cx="235175" cy="2026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A8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1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346"/>
            <a:ext cx="3755975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97" dirty="0">
                <a:solidFill>
                  <a:srgbClr val="7C1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EXPERIMENTAL PROTOCOL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17316693" y="542005"/>
            <a:ext cx="285506" cy="219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kern="0" spc="120" dirty="0">
                <a:solidFill>
                  <a:srgbClr val="A8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923005"/>
            <a:ext cx="18440399" cy="4572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kern="0" spc="-49" dirty="0">
                <a:solidFill>
                  <a:srgbClr val="221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Reproducibility and evaluation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762000" y="1475428"/>
            <a:ext cx="609519" cy="47625"/>
          </a:xfrm>
          <a:prstGeom prst="roundRect">
            <a:avLst>
              <a:gd name="adj" fmla="val 50000"/>
            </a:avLst>
          </a:prstGeom>
          <a:solidFill>
            <a:srgbClr val="7C1D2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762000" y="4303027"/>
            <a:ext cx="8220048" cy="2431581"/>
          </a:xfrm>
          <a:prstGeom prst="roundRect">
            <a:avLst>
              <a:gd name="adj" fmla="val 6268"/>
            </a:avLst>
          </a:prstGeom>
          <a:solidFill>
            <a:srgbClr val="FFFFFF"/>
          </a:solidFill>
          <a:ln w="8659">
            <a:solidFill>
              <a:srgbClr val="EBE0D9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7" name="Text 5"/>
          <p:cNvSpPr/>
          <p:nvPr/>
        </p:nvSpPr>
        <p:spPr>
          <a:xfrm>
            <a:off x="1151659" y="4692686"/>
            <a:ext cx="8184803" cy="219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kern="0" spc="192" dirty="0">
                <a:solidFill>
                  <a:srgbClr val="7C1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REPRODUCIBILITY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4112" y="5164606"/>
            <a:ext cx="182274" cy="3314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7C1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10079" y="5083969"/>
            <a:ext cx="6956524" cy="412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3429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</a:t>
            </a:r>
            <a:r>
              <a:rPr lang="en-US" sz="1650" dirty="0" err="1">
                <a:solidFill>
                  <a:srgbClr val="3429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</a:t>
            </a:r>
            <a:r>
              <a:rPr lang="en-US" sz="1650" dirty="0">
                <a:solidFill>
                  <a:srgbClr val="3429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 statistical validity, variance measurement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100354" y="5597927"/>
            <a:ext cx="394151" cy="3314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7C1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621956" y="5567795"/>
            <a:ext cx="6956524" cy="3314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3429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episodes per density level, with identical seeds for IPPO, MAPPO and MASAC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151659" y="6051622"/>
            <a:ext cx="266700" cy="3314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7C1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494505" y="6051622"/>
            <a:ext cx="3095476" cy="3314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3429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with </a:t>
            </a:r>
            <a:r>
              <a:rPr lang="en-US" sz="1650" b="1" dirty="0">
                <a:solidFill>
                  <a:srgbClr val="3429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greedy actions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9305816" y="3946245"/>
            <a:ext cx="8220183" cy="3145279"/>
          </a:xfrm>
          <a:prstGeom prst="roundRect">
            <a:avLst>
              <a:gd name="adj" fmla="val 4845"/>
            </a:avLst>
          </a:prstGeom>
          <a:solidFill>
            <a:srgbClr val="FFFFFF"/>
          </a:solidFill>
          <a:ln w="8659">
            <a:solidFill>
              <a:srgbClr val="EBE0D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9695476" y="4335904"/>
            <a:ext cx="8184952" cy="219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kern="0" spc="192" dirty="0">
                <a:solidFill>
                  <a:srgbClr val="7C1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METRICS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695476" y="4727187"/>
            <a:ext cx="7664091" cy="5487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7C1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IPPO / MAPPO (on-policy) </a:t>
            </a:r>
            <a:r>
              <a:rPr lang="en-US" sz="1350" dirty="0">
                <a:solidFill>
                  <a:srgbClr val="3429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vf_loss · episode_return_mean · entropy</a:t>
            </a:r>
            <a:endParaRPr lang="en-US" sz="1425" dirty="0"/>
          </a:p>
        </p:txBody>
      </p:sp>
      <p:sp>
        <p:nvSpPr>
          <p:cNvPr id="17" name="Text 15"/>
          <p:cNvSpPr/>
          <p:nvPr/>
        </p:nvSpPr>
        <p:spPr>
          <a:xfrm>
            <a:off x="9695476" y="5390148"/>
            <a:ext cx="7664091" cy="5487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7C1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MASAC (off-policy) </a:t>
            </a:r>
            <a:r>
              <a:rPr lang="en-US" sz="1350" dirty="0">
                <a:solidFill>
                  <a:srgbClr val="3429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alpha_loss · critic_loss · actor_loss · episode_return_mean</a:t>
            </a:r>
            <a:endParaRPr lang="en-US" sz="1425" dirty="0"/>
          </a:p>
        </p:txBody>
      </p:sp>
      <p:sp>
        <p:nvSpPr>
          <p:cNvPr id="18" name="Shape 16"/>
          <p:cNvSpPr/>
          <p:nvPr/>
        </p:nvSpPr>
        <p:spPr>
          <a:xfrm>
            <a:off x="9695476" y="6053110"/>
            <a:ext cx="7440865" cy="9525"/>
          </a:xfrm>
          <a:prstGeom prst="rect">
            <a:avLst/>
          </a:prstGeom>
          <a:solidFill>
            <a:srgbClr val="EBE0D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9695476" y="6195119"/>
            <a:ext cx="7664091" cy="5448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7C1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</a:t>
            </a:r>
            <a:r>
              <a:rPr lang="en-US" sz="1425" dirty="0">
                <a:solidFill>
                  <a:srgbClr val="3429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rate and crash rate per density level</a:t>
            </a:r>
            <a:endParaRPr lang="en-US" sz="1425" dirty="0"/>
          </a:p>
        </p:txBody>
      </p:sp>
      <p:sp>
        <p:nvSpPr>
          <p:cNvPr id="20" name="Shape 18"/>
          <p:cNvSpPr/>
          <p:nvPr/>
        </p:nvSpPr>
        <p:spPr>
          <a:xfrm>
            <a:off x="762000" y="9514717"/>
            <a:ext cx="16763999" cy="9525"/>
          </a:xfrm>
          <a:prstGeom prst="rect">
            <a:avLst/>
          </a:prstGeom>
          <a:solidFill>
            <a:srgbClr val="E7DDD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762000" y="9656645"/>
            <a:ext cx="3456682" cy="2112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kern="0" spc="45" dirty="0">
                <a:solidFill>
                  <a:srgbClr val="A8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Coordination and generalization in MARL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17367024" y="9660974"/>
            <a:ext cx="235175" cy="2026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A8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71" y="397746"/>
            <a:ext cx="1242839" cy="2395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189" dirty="0">
                <a:solidFill>
                  <a:srgbClr val="B07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496670" y="176292"/>
            <a:ext cx="6970514" cy="3333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325" b="1" kern="0" spc="-23" dirty="0">
                <a:solidFill>
                  <a:srgbClr val="221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Truncation vs zero-padding: the MLP's limit</a:t>
            </a:r>
            <a:endParaRPr lang="en-US" sz="2325" dirty="0"/>
          </a:p>
        </p:txBody>
      </p:sp>
      <p:sp>
        <p:nvSpPr>
          <p:cNvPr id="4" name="Text 2"/>
          <p:cNvSpPr/>
          <p:nvPr/>
        </p:nvSpPr>
        <p:spPr>
          <a:xfrm>
            <a:off x="17642085" y="342440"/>
            <a:ext cx="264941" cy="219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kern="0" spc="120" dirty="0">
                <a:solidFill>
                  <a:srgbClr val="A8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172" y="685772"/>
            <a:ext cx="1974027" cy="295006"/>
          </a:xfrm>
          <a:prstGeom prst="roundRect">
            <a:avLst>
              <a:gd name="adj" fmla="val 28589"/>
            </a:avLst>
          </a:prstGeom>
          <a:solidFill>
            <a:srgbClr val="F4EBE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580997" y="732505"/>
            <a:ext cx="1850203" cy="2482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7C1D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vehicles_count = 4</a:t>
            </a:r>
            <a:endParaRPr lang="en-US" sz="1275" dirty="0"/>
          </a:p>
        </p:txBody>
      </p:sp>
      <p:sp>
        <p:nvSpPr>
          <p:cNvPr id="7" name="Text 5"/>
          <p:cNvSpPr/>
          <p:nvPr/>
        </p:nvSpPr>
        <p:spPr>
          <a:xfrm>
            <a:off x="2566180" y="756588"/>
            <a:ext cx="1730276" cy="219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E63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truncated observation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173" y="1056950"/>
            <a:ext cx="8543952" cy="8437607"/>
          </a:xfrm>
          <a:prstGeom prst="roundRect">
            <a:avLst>
              <a:gd name="adj" fmla="val 1355"/>
            </a:avLst>
          </a:prstGeom>
          <a:solidFill>
            <a:srgbClr val="FFFFFF"/>
          </a:solidFill>
          <a:ln w="8659">
            <a:solidFill>
              <a:srgbClr val="EBE0D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 l="-646" r="-646"/>
          <a:stretch/>
        </p:blipFill>
        <p:spPr>
          <a:xfrm>
            <a:off x="561082" y="1160859"/>
            <a:ext cx="8336134" cy="8229789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57173" y="9589808"/>
            <a:ext cx="8543952" cy="449596"/>
          </a:xfrm>
          <a:prstGeom prst="roundRect">
            <a:avLst>
              <a:gd name="adj" fmla="val 21186"/>
            </a:avLst>
          </a:prstGeom>
          <a:solidFill>
            <a:srgbClr val="EAF3EE"/>
          </a:solidFill>
          <a:ln w="8659">
            <a:solidFill>
              <a:srgbClr val="C8E2D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8"/>
          <p:cNvSpPr/>
          <p:nvPr/>
        </p:nvSpPr>
        <p:spPr>
          <a:xfrm>
            <a:off x="637282" y="9703242"/>
            <a:ext cx="8440052" cy="2608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F5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Rows always valid → </a:t>
            </a:r>
            <a:r>
              <a:rPr lang="en-US" sz="1350" b="1" dirty="0">
                <a:solidFill>
                  <a:srgbClr val="1F5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gradual and predictable degradation.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9286874" y="685772"/>
            <a:ext cx="1974026" cy="295006"/>
          </a:xfrm>
          <a:prstGeom prst="roundRect">
            <a:avLst>
              <a:gd name="adj" fmla="val 28589"/>
            </a:avLst>
          </a:prstGeom>
          <a:solidFill>
            <a:srgbClr val="F4EBE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Text 10"/>
          <p:cNvSpPr/>
          <p:nvPr/>
        </p:nvSpPr>
        <p:spPr>
          <a:xfrm>
            <a:off x="9410699" y="732505"/>
            <a:ext cx="1985182" cy="2482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7C1D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vehicles_count = 6</a:t>
            </a:r>
            <a:endParaRPr lang="en-US" sz="1275" dirty="0"/>
          </a:p>
        </p:txBody>
      </p:sp>
      <p:sp>
        <p:nvSpPr>
          <p:cNvPr id="14" name="Text 11"/>
          <p:cNvSpPr/>
          <p:nvPr/>
        </p:nvSpPr>
        <p:spPr>
          <a:xfrm>
            <a:off x="11395881" y="756588"/>
            <a:ext cx="1623268" cy="219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E63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slots trained to zero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9286874" y="1056950"/>
            <a:ext cx="8543952" cy="8437607"/>
          </a:xfrm>
          <a:prstGeom prst="roundRect">
            <a:avLst>
              <a:gd name="adj" fmla="val 1355"/>
            </a:avLst>
          </a:prstGeom>
          <a:solidFill>
            <a:srgbClr val="FFFFFF"/>
          </a:solidFill>
          <a:ln w="8659">
            <a:solidFill>
              <a:srgbClr val="EBE0D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rcRect l="-646" r="-646"/>
          <a:stretch/>
        </p:blipFill>
        <p:spPr>
          <a:xfrm>
            <a:off x="9390784" y="1160859"/>
            <a:ext cx="8336134" cy="8229789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9286874" y="9589808"/>
            <a:ext cx="8543952" cy="449596"/>
          </a:xfrm>
          <a:prstGeom prst="roundRect">
            <a:avLst>
              <a:gd name="adj" fmla="val 21186"/>
            </a:avLst>
          </a:prstGeom>
          <a:solidFill>
            <a:srgbClr val="F4EBE9"/>
          </a:solidFill>
          <a:ln w="8659">
            <a:solidFill>
              <a:srgbClr val="E6D2D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4"/>
          <p:cNvSpPr/>
          <p:nvPr/>
        </p:nvSpPr>
        <p:spPr>
          <a:xfrm>
            <a:off x="9466984" y="9703242"/>
            <a:ext cx="8440052" cy="2608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A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slots filled by real vehicles → </a:t>
            </a:r>
            <a:r>
              <a:rPr lang="en-US" sz="1350" b="1" dirty="0" err="1">
                <a:solidFill>
                  <a:srgbClr val="5A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sharp</a:t>
            </a:r>
            <a:r>
              <a:rPr lang="en-US" sz="1350" b="1" dirty="0">
                <a:solidFill>
                  <a:srgbClr val="5A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degradation.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C1D2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89B0BD-44E5-891F-D57F-DE4300CF1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5CAF3EF-3673-195E-682C-F980FB79A26A}"/>
              </a:ext>
            </a:extLst>
          </p:cNvPr>
          <p:cNvSpPr/>
          <p:nvPr/>
        </p:nvSpPr>
        <p:spPr>
          <a:xfrm>
            <a:off x="8438148" y="4281379"/>
            <a:ext cx="1552724" cy="2632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0" cap="none" spc="420" normalizeH="0" baseline="0" noProof="0" dirty="0">
                <a:ln>
                  <a:noFill/>
                </a:ln>
                <a:solidFill>
                  <a:srgbClr val="FFFFFF">
                    <a:alpha val="65000"/>
                  </a:srgbClr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FAF268C-5BBF-913D-A5C5-FA7D8D1C3474}"/>
              </a:ext>
            </a:extLst>
          </p:cNvPr>
          <p:cNvSpPr/>
          <p:nvPr/>
        </p:nvSpPr>
        <p:spPr>
          <a:xfrm>
            <a:off x="4422583" y="4792265"/>
            <a:ext cx="9442698" cy="91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1" i="0" u="none" strike="noStrike" kern="0" cap="none" spc="-99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-120"/>
              </a:rPr>
              <a:t>Results</a:t>
            </a:r>
            <a:r>
              <a:rPr kumimoji="0" lang="en-US" sz="6600" b="1" i="0" u="none" strike="noStrike" kern="0" cap="none" spc="-99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-120"/>
              </a:rPr>
              <a:t> MASAC</a:t>
            </a:r>
            <a:endParaRPr kumimoji="0" lang="en-US" sz="6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33CF1F3-D88C-22DF-9C17-474D22CD4ACB}"/>
              </a:ext>
            </a:extLst>
          </p:cNvPr>
          <p:cNvSpPr/>
          <p:nvPr/>
        </p:nvSpPr>
        <p:spPr>
          <a:xfrm>
            <a:off x="8801154" y="5957996"/>
            <a:ext cx="685692" cy="47625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300960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73" y="415636"/>
            <a:ext cx="2063948" cy="1939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kern="0" spc="189" dirty="0">
                <a:solidFill>
                  <a:srgbClr val="B07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2 · MASAC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2504913" y="285750"/>
            <a:ext cx="4944517" cy="3333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325" b="1" kern="0" spc="-35" dirty="0">
                <a:solidFill>
                  <a:srgbClr val="221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off-policy does not converge: instability</a:t>
            </a:r>
            <a:endParaRPr lang="en-US" sz="2325" dirty="0"/>
          </a:p>
        </p:txBody>
      </p:sp>
      <p:sp>
        <p:nvSpPr>
          <p:cNvPr id="4" name="Text 2"/>
          <p:cNvSpPr/>
          <p:nvPr/>
        </p:nvSpPr>
        <p:spPr>
          <a:xfrm>
            <a:off x="17630720" y="342440"/>
            <a:ext cx="276306" cy="219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kern="0" spc="120" dirty="0">
                <a:solidFill>
                  <a:srgbClr val="A8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173" y="714240"/>
            <a:ext cx="11092024" cy="9067150"/>
          </a:xfrm>
          <a:prstGeom prst="roundRect">
            <a:avLst>
              <a:gd name="adj" fmla="val 1261"/>
            </a:avLst>
          </a:prstGeom>
          <a:solidFill>
            <a:srgbClr val="FFFFFF"/>
          </a:solidFill>
          <a:ln w="8659">
            <a:solidFill>
              <a:srgbClr val="EBE0D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t="-6932" b="-6932"/>
          <a:stretch/>
        </p:blipFill>
        <p:spPr>
          <a:xfrm>
            <a:off x="580024" y="837091"/>
            <a:ext cx="10846323" cy="882144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173" y="9857563"/>
            <a:ext cx="12201227" cy="219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E63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· alpha / critic / entropy loss, 3 agents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11834947" y="714240"/>
            <a:ext cx="5995879" cy="869833"/>
          </a:xfrm>
          <a:prstGeom prst="roundRect">
            <a:avLst>
              <a:gd name="adj" fmla="val 13140"/>
            </a:avLst>
          </a:prstGeom>
          <a:solidFill>
            <a:srgbClr val="F4EBE9"/>
          </a:solidFill>
          <a:ln w="8659">
            <a:solidFill>
              <a:srgbClr val="E6D2D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6"/>
          <p:cNvSpPr/>
          <p:nvPr/>
        </p:nvSpPr>
        <p:spPr>
          <a:xfrm>
            <a:off x="12053048" y="817743"/>
            <a:ext cx="2435684" cy="40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350" b="1" dirty="0" err="1">
                <a:solidFill>
                  <a:srgbClr val="7C1D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alpha_loss</a:t>
            </a:r>
            <a:r>
              <a:rPr lang="en-US" sz="1350" b="1" dirty="0">
                <a:solidFill>
                  <a:srgbClr val="7C1D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b="1" dirty="0" err="1">
                <a:solidFill>
                  <a:srgbClr val="7C1D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flattens</a:t>
            </a:r>
            <a:r>
              <a:rPr lang="en-US" sz="1350" b="1" dirty="0">
                <a:solidFill>
                  <a:srgbClr val="7C1D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b="1" dirty="0" err="1">
                <a:solidFill>
                  <a:srgbClr val="7C1D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2053048" y="1150577"/>
            <a:ext cx="6115645" cy="2915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dirty="0" err="1">
                <a:solidFill>
                  <a:srgbClr val="3429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Exploration</a:t>
            </a:r>
            <a:r>
              <a:rPr lang="en-US" sz="1425" dirty="0">
                <a:solidFill>
                  <a:srgbClr val="3429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not </a:t>
            </a:r>
            <a:r>
              <a:rPr lang="en-US" sz="1425" dirty="0" err="1">
                <a:solidFill>
                  <a:srgbClr val="3429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rewarded</a:t>
            </a:r>
            <a:r>
              <a:rPr lang="en-US" sz="1425" dirty="0">
                <a:solidFill>
                  <a:srgbClr val="3429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fatal for MASAC; suboptimal policy</a:t>
            </a:r>
            <a:endParaRPr lang="en-US" sz="1425" dirty="0"/>
          </a:p>
        </p:txBody>
      </p:sp>
      <p:sp>
        <p:nvSpPr>
          <p:cNvPr id="11" name="Shape 8"/>
          <p:cNvSpPr/>
          <p:nvPr/>
        </p:nvSpPr>
        <p:spPr>
          <a:xfrm>
            <a:off x="11834947" y="1736418"/>
            <a:ext cx="5995879" cy="902169"/>
          </a:xfrm>
          <a:prstGeom prst="roundRect">
            <a:avLst>
              <a:gd name="adj" fmla="val 12669"/>
            </a:avLst>
          </a:prstGeom>
          <a:solidFill>
            <a:srgbClr val="2A252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Text 9"/>
          <p:cNvSpPr/>
          <p:nvPr/>
        </p:nvSpPr>
        <p:spPr>
          <a:xfrm>
            <a:off x="12044389" y="1923400"/>
            <a:ext cx="1644104" cy="176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b="1" kern="0" spc="117" dirty="0">
                <a:solidFill>
                  <a:srgbClr val="D98A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SUCCESS RATE</a:t>
            </a:r>
            <a:endParaRPr lang="en-US" sz="975" dirty="0"/>
          </a:p>
        </p:txBody>
      </p:sp>
      <p:sp>
        <p:nvSpPr>
          <p:cNvPr id="13" name="Text 10"/>
          <p:cNvSpPr/>
          <p:nvPr/>
        </p:nvSpPr>
        <p:spPr>
          <a:xfrm>
            <a:off x="12033998" y="2134593"/>
            <a:ext cx="6134695" cy="4537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~76%</a:t>
            </a:r>
            <a:endParaRPr lang="en-US" sz="2850" dirty="0"/>
          </a:p>
        </p:txBody>
      </p:sp>
      <p:sp>
        <p:nvSpPr>
          <p:cNvPr id="14" name="Text 11"/>
          <p:cNvSpPr/>
          <p:nvPr/>
        </p:nvSpPr>
        <p:spPr>
          <a:xfrm>
            <a:off x="11834946" y="2785793"/>
            <a:ext cx="1539859" cy="2077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3429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Suboptimal policy</a:t>
            </a:r>
            <a:endParaRPr lang="en-US" sz="1125" dirty="0"/>
          </a:p>
        </p:txBody>
      </p:sp>
      <p:sp>
        <p:nvSpPr>
          <p:cNvPr id="15" name="Shape 12"/>
          <p:cNvSpPr/>
          <p:nvPr/>
        </p:nvSpPr>
        <p:spPr>
          <a:xfrm>
            <a:off x="11834947" y="3031629"/>
            <a:ext cx="5995879" cy="7007775"/>
          </a:xfrm>
          <a:prstGeom prst="roundRect">
            <a:avLst>
              <a:gd name="adj" fmla="val 1906"/>
            </a:avLst>
          </a:prstGeom>
          <a:solidFill>
            <a:srgbClr val="33312F"/>
          </a:solidFill>
          <a:ln w="8659">
            <a:solidFill>
              <a:srgbClr val="2A282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1843606" y="3546168"/>
            <a:ext cx="5978561" cy="597856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73" y="415636"/>
            <a:ext cx="2063948" cy="1939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kern="0" spc="189" dirty="0">
                <a:solidFill>
                  <a:srgbClr val="B07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2 · MASAC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2504913" y="285750"/>
            <a:ext cx="4971008" cy="3333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325" b="1" kern="0" spc="-35" dirty="0">
                <a:solidFill>
                  <a:srgbClr val="221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MASAC: zero-shot generalization</a:t>
            </a:r>
            <a:endParaRPr lang="en-US" sz="2325" dirty="0"/>
          </a:p>
        </p:txBody>
      </p:sp>
      <p:sp>
        <p:nvSpPr>
          <p:cNvPr id="4" name="Text 2"/>
          <p:cNvSpPr/>
          <p:nvPr/>
        </p:nvSpPr>
        <p:spPr>
          <a:xfrm>
            <a:off x="17630720" y="342440"/>
            <a:ext cx="276306" cy="219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kern="0" spc="120" dirty="0">
                <a:solidFill>
                  <a:srgbClr val="A8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173" y="714240"/>
            <a:ext cx="17373653" cy="9325164"/>
          </a:xfrm>
          <a:prstGeom prst="roundRect">
            <a:avLst>
              <a:gd name="adj" fmla="val 1430"/>
            </a:avLst>
          </a:prstGeom>
          <a:solidFill>
            <a:srgbClr val="FFFFFF"/>
          </a:solidFill>
          <a:ln w="8659">
            <a:solidFill>
              <a:srgbClr val="EBE0D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42355" y="875245"/>
            <a:ext cx="9003154" cy="900315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C1D2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F3A339-8FCE-3725-9360-9A62AB289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9C12884-ED72-7AFE-7232-81D1A79E2931}"/>
              </a:ext>
            </a:extLst>
          </p:cNvPr>
          <p:cNvSpPr/>
          <p:nvPr/>
        </p:nvSpPr>
        <p:spPr>
          <a:xfrm>
            <a:off x="8438148" y="4281379"/>
            <a:ext cx="1552724" cy="2632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0" cap="none" spc="420" normalizeH="0" baseline="0" noProof="0" dirty="0">
                <a:ln>
                  <a:noFill/>
                </a:ln>
                <a:solidFill>
                  <a:srgbClr val="FFFFFF">
                    <a:alpha val="65000"/>
                  </a:srgbClr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285AA3E-D3BC-BDF5-424B-05E94A49F993}"/>
              </a:ext>
            </a:extLst>
          </p:cNvPr>
          <p:cNvSpPr/>
          <p:nvPr/>
        </p:nvSpPr>
        <p:spPr>
          <a:xfrm>
            <a:off x="4422583" y="4792265"/>
            <a:ext cx="9442698" cy="91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1" i="0" u="none" strike="noStrike" kern="0" cap="none" spc="-99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-120"/>
              </a:rPr>
              <a:t>Results</a:t>
            </a:r>
            <a:r>
              <a:rPr kumimoji="0" lang="en-US" sz="6600" b="1" i="0" u="none" strike="noStrike" kern="0" cap="none" spc="-99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-120"/>
              </a:rPr>
              <a:t> IPPO vs MAPPO</a:t>
            </a:r>
            <a:endParaRPr kumimoji="0" lang="en-US" sz="6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5A53E75-A218-2D70-3767-DC0C88884739}"/>
              </a:ext>
            </a:extLst>
          </p:cNvPr>
          <p:cNvSpPr/>
          <p:nvPr/>
        </p:nvSpPr>
        <p:spPr>
          <a:xfrm>
            <a:off x="8801154" y="5957996"/>
            <a:ext cx="685692" cy="47625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655974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73" y="415636"/>
            <a:ext cx="3077766" cy="1939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kern="0" spc="189" dirty="0">
                <a:solidFill>
                  <a:srgbClr val="B07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3 · REPRODUCIBILITY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505173" y="290811"/>
            <a:ext cx="6386176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325" b="1" kern="0" spc="-35" dirty="0">
                <a:solidFill>
                  <a:srgbClr val="221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on-policy methods converge</a:t>
            </a:r>
            <a:endParaRPr lang="en-US" sz="2325" dirty="0"/>
          </a:p>
        </p:txBody>
      </p:sp>
      <p:sp>
        <p:nvSpPr>
          <p:cNvPr id="4" name="Text 2"/>
          <p:cNvSpPr/>
          <p:nvPr/>
        </p:nvSpPr>
        <p:spPr>
          <a:xfrm>
            <a:off x="17630720" y="342440"/>
            <a:ext cx="276306" cy="219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kern="0" spc="120" dirty="0">
                <a:solidFill>
                  <a:srgbClr val="A8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173" y="734534"/>
            <a:ext cx="123798" cy="123798"/>
          </a:xfrm>
          <a:prstGeom prst="ellipse">
            <a:avLst/>
          </a:prstGeom>
          <a:solidFill>
            <a:srgbClr val="3B6FA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647538" y="714240"/>
            <a:ext cx="592363" cy="1939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3429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MAPPO</a:t>
            </a:r>
            <a:endParaRPr lang="en-US" sz="1125" dirty="0"/>
          </a:p>
        </p:txBody>
      </p:sp>
      <p:sp>
        <p:nvSpPr>
          <p:cNvPr id="7" name="Shape 5"/>
          <p:cNvSpPr/>
          <p:nvPr/>
        </p:nvSpPr>
        <p:spPr>
          <a:xfrm>
            <a:off x="1335124" y="734534"/>
            <a:ext cx="123798" cy="123798"/>
          </a:xfrm>
          <a:prstGeom prst="ellipse">
            <a:avLst/>
          </a:prstGeom>
          <a:solidFill>
            <a:srgbClr val="E08A2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1525488" y="714240"/>
            <a:ext cx="417693" cy="1939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3429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IPPO</a:t>
            </a:r>
            <a:endParaRPr lang="en-US" sz="1125" dirty="0"/>
          </a:p>
        </p:txBody>
      </p:sp>
      <p:sp>
        <p:nvSpPr>
          <p:cNvPr id="9" name="Shape 7"/>
          <p:cNvSpPr/>
          <p:nvPr/>
        </p:nvSpPr>
        <p:spPr>
          <a:xfrm>
            <a:off x="457173" y="954935"/>
            <a:ext cx="6096000" cy="884472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8659">
            <a:solidFill>
              <a:srgbClr val="EBE0D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638879" y="1077786"/>
            <a:ext cx="5732588" cy="859901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57173" y="9866222"/>
            <a:ext cx="6705600" cy="2112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6E63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· VF-loss · entropy — 3 seeds, intersection</a:t>
            </a:r>
            <a:endParaRPr lang="en-US" sz="1125" dirty="0"/>
          </a:p>
        </p:txBody>
      </p:sp>
      <p:sp>
        <p:nvSpPr>
          <p:cNvPr id="12" name="Text 9"/>
          <p:cNvSpPr/>
          <p:nvPr/>
        </p:nvSpPr>
        <p:spPr>
          <a:xfrm>
            <a:off x="6934173" y="4048666"/>
            <a:ext cx="11986319" cy="219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kern="0" spc="192" dirty="0">
                <a:solidFill>
                  <a:srgbClr val="7C1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SUCCESS RATE (3 SEEDS)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934173" y="4459026"/>
            <a:ext cx="5353077" cy="1175742"/>
          </a:xfrm>
          <a:prstGeom prst="roundRect">
            <a:avLst>
              <a:gd name="adj" fmla="val 11342"/>
            </a:avLst>
          </a:prstGeom>
          <a:solidFill>
            <a:srgbClr val="FFFFFF"/>
          </a:solidFill>
          <a:ln w="8659">
            <a:solidFill>
              <a:srgbClr val="EBE0D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1"/>
          <p:cNvSpPr/>
          <p:nvPr/>
        </p:nvSpPr>
        <p:spPr>
          <a:xfrm>
            <a:off x="7209505" y="4696204"/>
            <a:ext cx="528265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E0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IPPO</a:t>
            </a:r>
            <a:endParaRPr lang="en-US" sz="1275" dirty="0"/>
          </a:p>
        </p:txBody>
      </p:sp>
      <p:sp>
        <p:nvSpPr>
          <p:cNvPr id="15" name="Text 12"/>
          <p:cNvSpPr/>
          <p:nvPr/>
        </p:nvSpPr>
        <p:spPr>
          <a:xfrm>
            <a:off x="7209505" y="4886703"/>
            <a:ext cx="5282654" cy="548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450" b="1" dirty="0">
                <a:solidFill>
                  <a:srgbClr val="221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0.97</a:t>
            </a:r>
            <a:endParaRPr lang="en-US" sz="3450" dirty="0"/>
          </a:p>
        </p:txBody>
      </p:sp>
      <p:sp>
        <p:nvSpPr>
          <p:cNvPr id="16" name="Shape 13"/>
          <p:cNvSpPr/>
          <p:nvPr/>
        </p:nvSpPr>
        <p:spPr>
          <a:xfrm>
            <a:off x="12477750" y="4459026"/>
            <a:ext cx="5353077" cy="1175742"/>
          </a:xfrm>
          <a:prstGeom prst="roundRect">
            <a:avLst>
              <a:gd name="adj" fmla="val 11342"/>
            </a:avLst>
          </a:prstGeom>
          <a:solidFill>
            <a:srgbClr val="FFFFFF"/>
          </a:solidFill>
          <a:ln w="8659">
            <a:solidFill>
              <a:srgbClr val="EBE0D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4"/>
          <p:cNvSpPr/>
          <p:nvPr/>
        </p:nvSpPr>
        <p:spPr>
          <a:xfrm>
            <a:off x="12753082" y="4696204"/>
            <a:ext cx="528265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3B6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MAPPO</a:t>
            </a:r>
            <a:endParaRPr lang="en-US" sz="1275" dirty="0"/>
          </a:p>
        </p:txBody>
      </p:sp>
      <p:sp>
        <p:nvSpPr>
          <p:cNvPr id="18" name="Text 15"/>
          <p:cNvSpPr/>
          <p:nvPr/>
        </p:nvSpPr>
        <p:spPr>
          <a:xfrm>
            <a:off x="12753082" y="4886703"/>
            <a:ext cx="5282654" cy="548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450" b="1" dirty="0">
                <a:solidFill>
                  <a:srgbClr val="221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0.97</a:t>
            </a:r>
            <a:endParaRPr lang="en-US" sz="3450" dirty="0"/>
          </a:p>
        </p:txBody>
      </p:sp>
      <p:sp>
        <p:nvSpPr>
          <p:cNvPr id="19" name="Text 16"/>
          <p:cNvSpPr/>
          <p:nvPr/>
        </p:nvSpPr>
        <p:spPr>
          <a:xfrm>
            <a:off x="6934173" y="5863287"/>
            <a:ext cx="149667" cy="2805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7C1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650" dirty="0"/>
          </a:p>
        </p:txBody>
      </p:sp>
      <p:sp>
        <p:nvSpPr>
          <p:cNvPr id="20" name="Text 17"/>
          <p:cNvSpPr/>
          <p:nvPr/>
        </p:nvSpPr>
        <p:spPr>
          <a:xfrm>
            <a:off x="7140908" y="5863287"/>
            <a:ext cx="4579144" cy="344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725" dirty="0">
                <a:solidFill>
                  <a:srgbClr val="3429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Reliable convergence across all 3 seeds.</a:t>
            </a:r>
            <a:endParaRPr lang="en-US" sz="1725" dirty="0"/>
          </a:p>
        </p:txBody>
      </p:sp>
      <p:sp>
        <p:nvSpPr>
          <p:cNvPr id="21" name="Text 18"/>
          <p:cNvSpPr/>
          <p:nvPr/>
        </p:nvSpPr>
        <p:spPr>
          <a:xfrm>
            <a:off x="6934173" y="6398391"/>
            <a:ext cx="149667" cy="2805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7C1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650" dirty="0"/>
          </a:p>
        </p:txBody>
      </p:sp>
      <p:sp>
        <p:nvSpPr>
          <p:cNvPr id="22" name="Text 19"/>
          <p:cNvSpPr/>
          <p:nvPr/>
        </p:nvSpPr>
        <p:spPr>
          <a:xfrm>
            <a:off x="7140908" y="6398391"/>
            <a:ext cx="8469362" cy="344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725" dirty="0">
                <a:solidFill>
                  <a:srgbClr val="3429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performance is substantially equivalent on the training intersection.</a:t>
            </a:r>
            <a:endParaRPr lang="en-US" sz="172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9205" y="291546"/>
            <a:ext cx="5061495" cy="1939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kern="0" spc="189" dirty="0">
                <a:solidFill>
                  <a:srgbClr val="B07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3 · COST OF THE DECENTRALIZED CRITIC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229955" y="219590"/>
            <a:ext cx="6121003" cy="3333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325" b="1" kern="0" spc="-35" dirty="0">
                <a:solidFill>
                  <a:srgbClr val="221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IPPO's local critic is more sensitive to the seed</a:t>
            </a:r>
            <a:endParaRPr lang="en-US" sz="2325" dirty="0"/>
          </a:p>
        </p:txBody>
      </p:sp>
      <p:sp>
        <p:nvSpPr>
          <p:cNvPr id="4" name="Text 2"/>
          <p:cNvSpPr/>
          <p:nvPr/>
        </p:nvSpPr>
        <p:spPr>
          <a:xfrm>
            <a:off x="17630720" y="342440"/>
            <a:ext cx="276306" cy="219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kern="0" spc="120" dirty="0">
                <a:solidFill>
                  <a:srgbClr val="A8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173" y="714240"/>
            <a:ext cx="508749" cy="2459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E0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IPPO</a:t>
            </a:r>
            <a:endParaRPr lang="en-US" sz="1425" dirty="0"/>
          </a:p>
        </p:txBody>
      </p:sp>
      <p:sp>
        <p:nvSpPr>
          <p:cNvPr id="6" name="Text 4"/>
          <p:cNvSpPr/>
          <p:nvPr/>
        </p:nvSpPr>
        <p:spPr>
          <a:xfrm>
            <a:off x="984972" y="740217"/>
            <a:ext cx="1094996" cy="2112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6E63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decentralized</a:t>
            </a:r>
            <a:endParaRPr lang="en-US" sz="1125" dirty="0"/>
          </a:p>
        </p:txBody>
      </p:sp>
      <p:sp>
        <p:nvSpPr>
          <p:cNvPr id="7" name="Shape 5"/>
          <p:cNvSpPr/>
          <p:nvPr/>
        </p:nvSpPr>
        <p:spPr>
          <a:xfrm>
            <a:off x="457173" y="998231"/>
            <a:ext cx="5067462" cy="9041173"/>
          </a:xfrm>
          <a:prstGeom prst="roundRect">
            <a:avLst>
              <a:gd name="adj" fmla="val 2256"/>
            </a:avLst>
          </a:prstGeom>
          <a:solidFill>
            <a:srgbClr val="FFFFFF"/>
          </a:solidFill>
          <a:ln w="8659">
            <a:solidFill>
              <a:srgbClr val="EBE0D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 t="-10590" b="-10590"/>
          <a:stretch/>
        </p:blipFill>
        <p:spPr>
          <a:xfrm>
            <a:off x="561082" y="1102140"/>
            <a:ext cx="4859644" cy="883335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753154" y="714240"/>
            <a:ext cx="729961" cy="2459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3B6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MAPPO</a:t>
            </a:r>
            <a:endParaRPr lang="en-US" sz="1425" dirty="0"/>
          </a:p>
        </p:txBody>
      </p:sp>
      <p:sp>
        <p:nvSpPr>
          <p:cNvPr id="10" name="Text 7"/>
          <p:cNvSpPr/>
          <p:nvPr/>
        </p:nvSpPr>
        <p:spPr>
          <a:xfrm>
            <a:off x="6502165" y="740217"/>
            <a:ext cx="926414" cy="2112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6E63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centralized</a:t>
            </a:r>
            <a:endParaRPr lang="en-US" sz="1125" dirty="0"/>
          </a:p>
        </p:txBody>
      </p:sp>
      <p:sp>
        <p:nvSpPr>
          <p:cNvPr id="11" name="Shape 8"/>
          <p:cNvSpPr/>
          <p:nvPr/>
        </p:nvSpPr>
        <p:spPr>
          <a:xfrm>
            <a:off x="5753154" y="998231"/>
            <a:ext cx="5067598" cy="9041173"/>
          </a:xfrm>
          <a:prstGeom prst="roundRect">
            <a:avLst>
              <a:gd name="adj" fmla="val 2256"/>
            </a:avLst>
          </a:prstGeom>
          <a:solidFill>
            <a:srgbClr val="FFFFFF"/>
          </a:solidFill>
          <a:ln w="8659">
            <a:solidFill>
              <a:srgbClr val="EBE0D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 t="-10588" b="-10588"/>
          <a:stretch/>
        </p:blipFill>
        <p:spPr>
          <a:xfrm>
            <a:off x="5857063" y="1102140"/>
            <a:ext cx="4859779" cy="883335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1144520" y="3850319"/>
            <a:ext cx="7354937" cy="219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kern="0" spc="168" dirty="0">
                <a:solidFill>
                  <a:srgbClr val="7C1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VF-LOSS STD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11144520" y="4241601"/>
            <a:ext cx="3257442" cy="1050997"/>
          </a:xfrm>
          <a:prstGeom prst="roundRect">
            <a:avLst>
              <a:gd name="adj" fmla="val 12688"/>
            </a:avLst>
          </a:prstGeom>
          <a:solidFill>
            <a:srgbClr val="FFFFFF"/>
          </a:solidFill>
          <a:ln w="8659">
            <a:solidFill>
              <a:srgbClr val="EBE0D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1"/>
          <p:cNvSpPr/>
          <p:nvPr/>
        </p:nvSpPr>
        <p:spPr>
          <a:xfrm>
            <a:off x="11381698" y="4459702"/>
            <a:ext cx="3061395" cy="219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0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IPPO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11381698" y="4641543"/>
            <a:ext cx="3061395" cy="4710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21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0.023</a:t>
            </a:r>
            <a:endParaRPr lang="en-US" sz="3000" dirty="0"/>
          </a:p>
        </p:txBody>
      </p:sp>
      <p:sp>
        <p:nvSpPr>
          <p:cNvPr id="17" name="Shape 13"/>
          <p:cNvSpPr/>
          <p:nvPr/>
        </p:nvSpPr>
        <p:spPr>
          <a:xfrm>
            <a:off x="14573385" y="4241601"/>
            <a:ext cx="3257442" cy="1050997"/>
          </a:xfrm>
          <a:prstGeom prst="roundRect">
            <a:avLst>
              <a:gd name="adj" fmla="val 12688"/>
            </a:avLst>
          </a:prstGeom>
          <a:solidFill>
            <a:srgbClr val="FFFFFF"/>
          </a:solidFill>
          <a:ln w="8659">
            <a:solidFill>
              <a:srgbClr val="EBE0D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4"/>
          <p:cNvSpPr/>
          <p:nvPr/>
        </p:nvSpPr>
        <p:spPr>
          <a:xfrm>
            <a:off x="14810562" y="4459702"/>
            <a:ext cx="3061395" cy="219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B6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MAPPO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14810562" y="4641543"/>
            <a:ext cx="3061395" cy="4710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21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0.010</a:t>
            </a:r>
            <a:endParaRPr lang="en-US" sz="3000" dirty="0"/>
          </a:p>
        </p:txBody>
      </p:sp>
      <p:sp>
        <p:nvSpPr>
          <p:cNvPr id="20" name="Shape 16"/>
          <p:cNvSpPr/>
          <p:nvPr/>
        </p:nvSpPr>
        <p:spPr>
          <a:xfrm>
            <a:off x="11144520" y="5502040"/>
            <a:ext cx="6686306" cy="1401284"/>
          </a:xfrm>
          <a:prstGeom prst="roundRect">
            <a:avLst>
              <a:gd name="adj" fmla="val 9516"/>
            </a:avLst>
          </a:prstGeom>
          <a:solidFill>
            <a:srgbClr val="F4EBE9"/>
          </a:solidFill>
          <a:ln w="8659">
            <a:solidFill>
              <a:srgbClr val="E6D2D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7"/>
          <p:cNvSpPr/>
          <p:nvPr/>
        </p:nvSpPr>
        <p:spPr>
          <a:xfrm>
            <a:off x="11400775" y="5720141"/>
            <a:ext cx="6791176" cy="367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7C1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~2.3×</a:t>
            </a:r>
            <a:endParaRPr lang="en-US" sz="2250" dirty="0"/>
          </a:p>
        </p:txBody>
      </p:sp>
      <p:sp>
        <p:nvSpPr>
          <p:cNvPr id="22" name="Text 18"/>
          <p:cNvSpPr/>
          <p:nvPr/>
        </p:nvSpPr>
        <p:spPr>
          <a:xfrm>
            <a:off x="11400774" y="6125358"/>
            <a:ext cx="6506251" cy="777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>
                <a:solidFill>
                  <a:srgbClr val="5A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IPPO is more sensitive to the seed: estimating value from local observations under non-stationarity is harder.</a:t>
            </a:r>
            <a:endParaRPr lang="en-US" sz="157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C1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60386" y="4138083"/>
            <a:ext cx="2367228" cy="4065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500" b="1" kern="0" spc="420" dirty="0">
                <a:solidFill>
                  <a:srgbClr val="FFFFFF">
                    <a:alpha val="65000"/>
                  </a:srgbClr>
                </a:solidFill>
                <a:latin typeface="Arial" pitchFamily="34" charset="0"/>
                <a:cs typeface="Arial" pitchFamily="34" charset="-120"/>
              </a:rPr>
              <a:t>IPPO vs MAPPO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4422583" y="4792265"/>
            <a:ext cx="9442698" cy="91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600" b="1" kern="0" spc="-99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</a:t>
            </a:r>
            <a:r>
              <a:rPr kumimoji="0" lang="en-US" sz="6600" b="1" i="0" u="none" strike="noStrike" kern="0" cap="none" spc="-99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on Intersection</a:t>
            </a:r>
            <a:endParaRPr kumimoji="0" lang="en-US" sz="6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801154" y="5957996"/>
            <a:ext cx="685692" cy="47625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73" y="235432"/>
            <a:ext cx="4338340" cy="1939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kern="0" spc="189" dirty="0">
                <a:solidFill>
                  <a:srgbClr val="B07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4 · SCALABILITY: INTERSECTION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541" y="114205"/>
            <a:ext cx="621625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50" b="1" kern="0" spc="-34" dirty="0">
                <a:solidFill>
                  <a:srgbClr val="221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intersection the two methods are equivalent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17630720" y="318627"/>
            <a:ext cx="276306" cy="219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kern="0" spc="120" dirty="0">
                <a:solidFill>
                  <a:srgbClr val="A8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173" y="666615"/>
            <a:ext cx="9408765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E0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IPPO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173" y="922870"/>
            <a:ext cx="8553423" cy="8474003"/>
          </a:xfrm>
          <a:prstGeom prst="roundRect">
            <a:avLst>
              <a:gd name="adj" fmla="val 1349"/>
            </a:avLst>
          </a:prstGeom>
          <a:solidFill>
            <a:srgbClr val="FFFFFF"/>
          </a:solidFill>
          <a:ln w="8659">
            <a:solidFill>
              <a:srgbClr val="EBE0D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0724" y="1026779"/>
            <a:ext cx="8266184" cy="8266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277269" y="666614"/>
            <a:ext cx="9408914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3B6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MAPPO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9277269" y="922870"/>
            <a:ext cx="8553558" cy="8474003"/>
          </a:xfrm>
          <a:prstGeom prst="roundRect">
            <a:avLst>
              <a:gd name="adj" fmla="val 1349"/>
            </a:avLst>
          </a:prstGeom>
          <a:solidFill>
            <a:srgbClr val="FFFFFF"/>
          </a:solidFill>
          <a:ln w="8659">
            <a:solidFill>
              <a:srgbClr val="EBE0D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420955" y="1026779"/>
            <a:ext cx="8266184" cy="826618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57173" y="9530141"/>
            <a:ext cx="17373653" cy="547417"/>
          </a:xfrm>
          <a:prstGeom prst="roundRect">
            <a:avLst>
              <a:gd name="adj" fmla="val 20880"/>
            </a:avLst>
          </a:prstGeom>
          <a:solidFill>
            <a:srgbClr val="F4EBE9"/>
          </a:solidFill>
          <a:ln w="8659">
            <a:solidFill>
              <a:srgbClr val="E6D2D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8"/>
          <p:cNvSpPr/>
          <p:nvPr/>
        </p:nvSpPr>
        <p:spPr>
          <a:xfrm>
            <a:off x="694351" y="9681675"/>
            <a:ext cx="18589227" cy="2824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dirty="0">
                <a:solidFill>
                  <a:srgbClr val="5A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centralized critic </a:t>
            </a:r>
            <a:r>
              <a:rPr lang="en-US" sz="1425" b="1" dirty="0">
                <a:solidFill>
                  <a:srgbClr val="5A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brings no advantage </a:t>
            </a:r>
            <a:r>
              <a:rPr lang="en-US" sz="1425" dirty="0">
                <a:solidFill>
                  <a:srgbClr val="5A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reacting to the local state is enough. </a:t>
            </a:r>
            <a:r>
              <a:rPr lang="en-US" sz="1125" dirty="0">
                <a:solidFill>
                  <a:srgbClr val="6E63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 de Witt et al. 2020 · [2] Yu et al. 2022, equivalence </a:t>
            </a:r>
            <a:r>
              <a:rPr lang="en-US" sz="1125" dirty="0" err="1">
                <a:solidFill>
                  <a:srgbClr val="6E63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</a:t>
            </a:r>
            <a:r>
              <a:rPr lang="en-US" sz="1125" dirty="0">
                <a:solidFill>
                  <a:srgbClr val="6E63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25" dirty="0" err="1">
                <a:solidFill>
                  <a:srgbClr val="6E63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</a:t>
            </a:r>
            <a:r>
              <a:rPr lang="en-US" sz="1125" dirty="0">
                <a:solidFill>
                  <a:srgbClr val="6E63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SMAC.</a:t>
            </a:r>
            <a:endParaRPr lang="en-US" sz="142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73" y="387900"/>
            <a:ext cx="4822627" cy="1939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kern="0" spc="189" dirty="0">
                <a:solidFill>
                  <a:srgbClr val="B07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4 · BEHAVIOR: INTERSECTION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192468" y="294341"/>
            <a:ext cx="4486040" cy="3810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50" b="1" kern="0" spc="-34" dirty="0">
                <a:solidFill>
                  <a:srgbClr val="221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Crossing behavior compared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17630720" y="318627"/>
            <a:ext cx="276306" cy="219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kern="0" spc="120" dirty="0">
                <a:solidFill>
                  <a:srgbClr val="A8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173" y="666615"/>
            <a:ext cx="531479" cy="2632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E0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IPPO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173" y="967924"/>
            <a:ext cx="8534481" cy="8428948"/>
          </a:xfrm>
          <a:prstGeom prst="roundRect">
            <a:avLst>
              <a:gd name="adj" fmla="val 1582"/>
            </a:avLst>
          </a:prstGeom>
          <a:solidFill>
            <a:srgbClr val="33312F"/>
          </a:solidFill>
          <a:ln w="8659">
            <a:solidFill>
              <a:srgbClr val="2A282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18598" y="976583"/>
            <a:ext cx="8411630" cy="841163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296345" y="666615"/>
            <a:ext cx="764327" cy="2632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B6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MAPPO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9296345" y="967924"/>
            <a:ext cx="8534481" cy="8428948"/>
          </a:xfrm>
          <a:prstGeom prst="roundRect">
            <a:avLst>
              <a:gd name="adj" fmla="val 1582"/>
            </a:avLst>
          </a:prstGeom>
          <a:solidFill>
            <a:srgbClr val="33312F"/>
          </a:solidFill>
          <a:ln w="8659">
            <a:solidFill>
              <a:srgbClr val="2A282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357771" y="976583"/>
            <a:ext cx="8411630" cy="841163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57173" y="9530141"/>
            <a:ext cx="17373653" cy="547417"/>
          </a:xfrm>
          <a:prstGeom prst="roundRect">
            <a:avLst>
              <a:gd name="adj" fmla="val 20880"/>
            </a:avLst>
          </a:prstGeom>
          <a:solidFill>
            <a:srgbClr val="F4EBE9"/>
          </a:solidFill>
          <a:ln w="8659">
            <a:solidFill>
              <a:srgbClr val="E6D2D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8"/>
          <p:cNvSpPr/>
          <p:nvPr/>
        </p:nvSpPr>
        <p:spPr>
          <a:xfrm>
            <a:off x="694351" y="9681675"/>
            <a:ext cx="18589227" cy="2824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dirty="0">
                <a:solidFill>
                  <a:srgbClr val="5A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low density both cross reliably. As the number of vehicles increases, </a:t>
            </a:r>
            <a:r>
              <a:rPr lang="en-US" sz="1425" b="1" dirty="0">
                <a:solidFill>
                  <a:srgbClr val="5A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 the best policies end up colliding</a:t>
            </a:r>
            <a:r>
              <a:rPr lang="en-US" sz="1425" dirty="0">
                <a:solidFill>
                  <a:srgbClr val="5A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the intersection remains chaotic and reactive.</a:t>
            </a:r>
            <a:endParaRPr lang="en-US" sz="142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C1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60142" y="4032414"/>
            <a:ext cx="2767715" cy="7856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0" cap="none" spc="420" normalizeH="0" baseline="0" noProof="0" dirty="0">
                <a:ln>
                  <a:noFill/>
                </a:ln>
                <a:solidFill>
                  <a:srgbClr val="FFFFFF">
                    <a:alpha val="65000"/>
                  </a:srgbClr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IPPO vs MAPPO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156597" y="4792265"/>
            <a:ext cx="7974806" cy="91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1" i="0" u="none" strike="noStrike" kern="0" cap="none" spc="-99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Evaluation</a:t>
            </a:r>
            <a:r>
              <a:rPr kumimoji="0" lang="en-US" sz="6600" b="1" i="0" u="none" strike="noStrike" kern="0" cap="none" spc="-99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on Roundabout</a:t>
            </a:r>
            <a:endParaRPr kumimoji="0" lang="en-US" sz="6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801154" y="5957996"/>
            <a:ext cx="685692" cy="47625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73" y="263575"/>
            <a:ext cx="4260651" cy="1939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kern="0" spc="189" dirty="0">
                <a:solidFill>
                  <a:srgbClr val="B07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5 · CROSS-DOMAIN: ROUNDABOUT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717824" y="235474"/>
            <a:ext cx="782017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50" b="1" kern="0" spc="-34" dirty="0">
                <a:solidFill>
                  <a:srgbClr val="221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roundabout MAPPO dominates: cooperation transfers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17630720" y="318627"/>
            <a:ext cx="276306" cy="219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kern="0" spc="120" dirty="0">
                <a:solidFill>
                  <a:srgbClr val="A8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173" y="666615"/>
            <a:ext cx="486019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E0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IPPO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43164" y="692592"/>
            <a:ext cx="1681311" cy="2026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E63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selfish → congestion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173" y="922870"/>
            <a:ext cx="8553423" cy="8478603"/>
          </a:xfrm>
          <a:prstGeom prst="roundRect">
            <a:avLst>
              <a:gd name="adj" fmla="val 1348"/>
            </a:avLst>
          </a:prstGeom>
          <a:solidFill>
            <a:srgbClr val="FFFFFF"/>
          </a:solidFill>
          <a:ln w="8659">
            <a:solidFill>
              <a:srgbClr val="EBE0D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8424" y="1026779"/>
            <a:ext cx="8270785" cy="827078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277269" y="666615"/>
            <a:ext cx="695460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3B6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MAPPO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9972702" y="692592"/>
            <a:ext cx="1315641" cy="2026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E63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yields right of way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9277269" y="922870"/>
            <a:ext cx="8553558" cy="8478603"/>
          </a:xfrm>
          <a:prstGeom prst="roundRect">
            <a:avLst>
              <a:gd name="adj" fmla="val 1348"/>
            </a:avLst>
          </a:prstGeom>
          <a:solidFill>
            <a:srgbClr val="FFFFFF"/>
          </a:solidFill>
          <a:ln w="8659">
            <a:solidFill>
              <a:srgbClr val="EBE0D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418655" y="1026779"/>
            <a:ext cx="8270785" cy="8270785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57173" y="9534741"/>
            <a:ext cx="17373653" cy="542817"/>
          </a:xfrm>
          <a:prstGeom prst="roundRect">
            <a:avLst>
              <a:gd name="adj" fmla="val 21057"/>
            </a:avLst>
          </a:prstGeom>
          <a:solidFill>
            <a:srgbClr val="2A252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4" name="Text 10"/>
          <p:cNvSpPr/>
          <p:nvPr/>
        </p:nvSpPr>
        <p:spPr>
          <a:xfrm>
            <a:off x="685692" y="9677616"/>
            <a:ext cx="18608278" cy="295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MAPPO dominates at every density</a:t>
            </a: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IPPO competes for the gap and collides. Cooperation emerges from the </a:t>
            </a:r>
            <a:r>
              <a:rPr lang="en-US" sz="1500" b="1" dirty="0">
                <a:solidFill>
                  <a:srgbClr val="D98A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</a:t>
            </a: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not from the reward.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73" y="387900"/>
            <a:ext cx="4490740" cy="1939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kern="0" spc="189" dirty="0">
                <a:solidFill>
                  <a:srgbClr val="B07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5 · BEHAVIOR: ROUNDABOUT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711087" y="266673"/>
            <a:ext cx="569133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50" b="1" kern="0" spc="-34" dirty="0">
                <a:solidFill>
                  <a:srgbClr val="221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IPPO collides, MAPPO yields right of way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17630720" y="318627"/>
            <a:ext cx="276306" cy="219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kern="0" spc="120" dirty="0">
                <a:solidFill>
                  <a:srgbClr val="A8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173" y="666615"/>
            <a:ext cx="531479" cy="2632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E0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IPPO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7702" y="692592"/>
            <a:ext cx="168577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E63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selfish → collision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173" y="967924"/>
            <a:ext cx="8534481" cy="8433549"/>
          </a:xfrm>
          <a:prstGeom prst="roundRect">
            <a:avLst>
              <a:gd name="adj" fmla="val 1581"/>
            </a:avLst>
          </a:prstGeom>
          <a:solidFill>
            <a:srgbClr val="33312F"/>
          </a:solidFill>
          <a:ln w="8659">
            <a:solidFill>
              <a:srgbClr val="2A282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16298" y="976583"/>
            <a:ext cx="8416230" cy="841623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296345" y="666615"/>
            <a:ext cx="764327" cy="2632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B6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MAPPO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0079723" y="692592"/>
            <a:ext cx="247471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E63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yields right of way → success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9296345" y="967924"/>
            <a:ext cx="8534481" cy="8433549"/>
          </a:xfrm>
          <a:prstGeom prst="roundRect">
            <a:avLst>
              <a:gd name="adj" fmla="val 1581"/>
            </a:avLst>
          </a:prstGeom>
          <a:solidFill>
            <a:srgbClr val="33312F"/>
          </a:solidFill>
          <a:ln w="8659">
            <a:solidFill>
              <a:srgbClr val="2A282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355471" y="976583"/>
            <a:ext cx="8416230" cy="841623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57173" y="9534741"/>
            <a:ext cx="17373653" cy="542817"/>
          </a:xfrm>
          <a:prstGeom prst="roundRect">
            <a:avLst>
              <a:gd name="adj" fmla="val 21057"/>
            </a:avLst>
          </a:prstGeom>
          <a:solidFill>
            <a:srgbClr val="2A252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4" name="Text 10"/>
          <p:cNvSpPr/>
          <p:nvPr/>
        </p:nvSpPr>
        <p:spPr>
          <a:xfrm>
            <a:off x="685692" y="9677616"/>
            <a:ext cx="18608278" cy="295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roundabout requires </a:t>
            </a:r>
            <a:r>
              <a:rPr lang="en-US" sz="1500" b="1" dirty="0">
                <a:solidFill>
                  <a:srgbClr val="D98A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yielding</a:t>
            </a: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MAPPO has internalized this behavior from the centralized critic, IPPO insists on the gap and collides.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346"/>
            <a:ext cx="1007188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97" dirty="0">
                <a:solidFill>
                  <a:srgbClr val="7C1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17296263" y="542005"/>
            <a:ext cx="305937" cy="219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kern="0" spc="120" dirty="0">
                <a:solidFill>
                  <a:srgbClr val="A8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923005"/>
            <a:ext cx="18440399" cy="4572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kern="0" spc="-49" dirty="0">
                <a:solidFill>
                  <a:srgbClr val="221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MAPPO vs IPPO comparison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762000" y="1475428"/>
            <a:ext cx="609519" cy="47625"/>
          </a:xfrm>
          <a:prstGeom prst="roundRect">
            <a:avLst>
              <a:gd name="adj" fmla="val 50000"/>
            </a:avLst>
          </a:prstGeom>
          <a:solidFill>
            <a:srgbClr val="7C1D2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762000" y="3770763"/>
            <a:ext cx="16763999" cy="2863724"/>
          </a:xfrm>
          <a:prstGeom prst="roundRect">
            <a:avLst>
              <a:gd name="adj" fmla="val 5322"/>
            </a:avLst>
          </a:prstGeom>
          <a:solidFill>
            <a:srgbClr val="FFFFFF"/>
          </a:solidFill>
          <a:ln w="8659">
            <a:solidFill>
              <a:srgbClr val="E6D2D0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7" name="Shape 5"/>
          <p:cNvSpPr/>
          <p:nvPr/>
        </p:nvSpPr>
        <p:spPr>
          <a:xfrm>
            <a:off x="770659" y="3779423"/>
            <a:ext cx="4465655" cy="914075"/>
          </a:xfrm>
          <a:prstGeom prst="rect">
            <a:avLst/>
          </a:prstGeom>
          <a:solidFill>
            <a:srgbClr val="FAF7F4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" name="Shape 6"/>
          <p:cNvSpPr/>
          <p:nvPr/>
        </p:nvSpPr>
        <p:spPr>
          <a:xfrm>
            <a:off x="770659" y="4684839"/>
            <a:ext cx="4465655" cy="9525"/>
          </a:xfrm>
          <a:prstGeom prst="rect">
            <a:avLst/>
          </a:prstGeom>
          <a:solidFill>
            <a:srgbClr val="EBE0D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Shape 7"/>
          <p:cNvSpPr/>
          <p:nvPr/>
        </p:nvSpPr>
        <p:spPr>
          <a:xfrm>
            <a:off x="5236315" y="3779423"/>
            <a:ext cx="6140513" cy="914075"/>
          </a:xfrm>
          <a:prstGeom prst="rect">
            <a:avLst/>
          </a:prstGeom>
          <a:solidFill>
            <a:srgbClr val="FAF7F4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Shape 8"/>
          <p:cNvSpPr/>
          <p:nvPr/>
        </p:nvSpPr>
        <p:spPr>
          <a:xfrm>
            <a:off x="5236315" y="4684839"/>
            <a:ext cx="6140513" cy="9525"/>
          </a:xfrm>
          <a:prstGeom prst="rect">
            <a:avLst/>
          </a:prstGeom>
          <a:solidFill>
            <a:srgbClr val="EBE0D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Shape 9"/>
          <p:cNvSpPr/>
          <p:nvPr/>
        </p:nvSpPr>
        <p:spPr>
          <a:xfrm>
            <a:off x="5236315" y="3779423"/>
            <a:ext cx="9525" cy="914075"/>
          </a:xfrm>
          <a:prstGeom prst="rect">
            <a:avLst/>
          </a:prstGeom>
          <a:solidFill>
            <a:srgbClr val="EBE0D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5511647" y="3988864"/>
            <a:ext cx="6158358" cy="3065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21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Intersection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511647" y="4276238"/>
            <a:ext cx="6158358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6E63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chaotic · reactive</a:t>
            </a:r>
            <a:endParaRPr lang="en-US" sz="1275" dirty="0"/>
          </a:p>
        </p:txBody>
      </p:sp>
      <p:sp>
        <p:nvSpPr>
          <p:cNvPr id="14" name="Shape 12"/>
          <p:cNvSpPr/>
          <p:nvPr/>
        </p:nvSpPr>
        <p:spPr>
          <a:xfrm>
            <a:off x="11376828" y="3779423"/>
            <a:ext cx="6140513" cy="914075"/>
          </a:xfrm>
          <a:prstGeom prst="rect">
            <a:avLst/>
          </a:prstGeom>
          <a:solidFill>
            <a:srgbClr val="FAF7F4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5" name="Shape 13"/>
          <p:cNvSpPr/>
          <p:nvPr/>
        </p:nvSpPr>
        <p:spPr>
          <a:xfrm>
            <a:off x="11376828" y="4684839"/>
            <a:ext cx="6140513" cy="9525"/>
          </a:xfrm>
          <a:prstGeom prst="rect">
            <a:avLst/>
          </a:prstGeom>
          <a:solidFill>
            <a:srgbClr val="EBE0D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6" name="Shape 14"/>
          <p:cNvSpPr/>
          <p:nvPr/>
        </p:nvSpPr>
        <p:spPr>
          <a:xfrm>
            <a:off x="11376828" y="3779423"/>
            <a:ext cx="9525" cy="914075"/>
          </a:xfrm>
          <a:prstGeom prst="rect">
            <a:avLst/>
          </a:prstGeom>
          <a:solidFill>
            <a:srgbClr val="EBE0D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11652160" y="3988864"/>
            <a:ext cx="6158358" cy="3065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21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Roundabout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652160" y="4276238"/>
            <a:ext cx="6158358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6E63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· social</a:t>
            </a:r>
            <a:endParaRPr lang="en-US" sz="1275" dirty="0"/>
          </a:p>
        </p:txBody>
      </p:sp>
      <p:sp>
        <p:nvSpPr>
          <p:cNvPr id="19" name="Shape 17"/>
          <p:cNvSpPr/>
          <p:nvPr/>
        </p:nvSpPr>
        <p:spPr>
          <a:xfrm>
            <a:off x="770659" y="5692540"/>
            <a:ext cx="4465655" cy="9525"/>
          </a:xfrm>
          <a:prstGeom prst="rect">
            <a:avLst/>
          </a:prstGeom>
          <a:solidFill>
            <a:srgbClr val="EBE0D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1037332" y="4922016"/>
            <a:ext cx="4325540" cy="3065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E0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IPPO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37332" y="5190448"/>
            <a:ext cx="4325540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E63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DTDE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236315" y="5692540"/>
            <a:ext cx="6140513" cy="9525"/>
          </a:xfrm>
          <a:prstGeom prst="rect">
            <a:avLst/>
          </a:prstGeom>
          <a:solidFill>
            <a:srgbClr val="EBE0D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3" name="Shape 21"/>
          <p:cNvSpPr/>
          <p:nvPr/>
        </p:nvSpPr>
        <p:spPr>
          <a:xfrm>
            <a:off x="5236315" y="4693498"/>
            <a:ext cx="9525" cy="1007702"/>
          </a:xfrm>
          <a:prstGeom prst="rect">
            <a:avLst/>
          </a:prstGeom>
          <a:solidFill>
            <a:srgbClr val="EBE0D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5511674" y="4922098"/>
            <a:ext cx="5782669" cy="5799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5A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Equivalent to MAPPO, </a:t>
            </a:r>
            <a:r>
              <a:rPr lang="en-US" sz="1500" dirty="0">
                <a:solidFill>
                  <a:srgbClr val="1C17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slightly more robustness at high density.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11376828" y="5692540"/>
            <a:ext cx="6140513" cy="9525"/>
          </a:xfrm>
          <a:prstGeom prst="rect">
            <a:avLst/>
          </a:prstGeom>
          <a:solidFill>
            <a:srgbClr val="EBE0D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6" name="Shape 24"/>
          <p:cNvSpPr/>
          <p:nvPr/>
        </p:nvSpPr>
        <p:spPr>
          <a:xfrm>
            <a:off x="11376828" y="4693498"/>
            <a:ext cx="9525" cy="1007702"/>
          </a:xfrm>
          <a:prstGeom prst="rect">
            <a:avLst/>
          </a:prstGeom>
          <a:solidFill>
            <a:srgbClr val="EBE0D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/>
          <p:nvPr/>
        </p:nvSpPr>
        <p:spPr>
          <a:xfrm>
            <a:off x="11652187" y="4922098"/>
            <a:ext cx="5782669" cy="5799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00" dirty="0">
                <a:solidFill>
                  <a:srgbClr val="3429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Selfish policy → causes congestion.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037332" y="5929718"/>
            <a:ext cx="4325540" cy="3065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B6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MAPPO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37332" y="6198150"/>
            <a:ext cx="4325540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E63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CTDE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236315" y="5701199"/>
            <a:ext cx="9525" cy="924629"/>
          </a:xfrm>
          <a:prstGeom prst="rect">
            <a:avLst/>
          </a:prstGeom>
          <a:solidFill>
            <a:srgbClr val="EBE0D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1" name="Text 29"/>
          <p:cNvSpPr/>
          <p:nvPr/>
        </p:nvSpPr>
        <p:spPr>
          <a:xfrm>
            <a:off x="5511674" y="5929799"/>
            <a:ext cx="5782669" cy="5055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00" dirty="0">
                <a:solidFill>
                  <a:srgbClr val="3429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Critic </a:t>
            </a:r>
            <a:r>
              <a:rPr lang="en-US" sz="1500" dirty="0" err="1">
                <a:solidFill>
                  <a:srgbClr val="3429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Centralized</a:t>
            </a:r>
            <a:r>
              <a:rPr lang="en-US" sz="1500" dirty="0">
                <a:solidFill>
                  <a:srgbClr val="3429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brings no </a:t>
            </a:r>
            <a:r>
              <a:rPr lang="en-US" sz="1500" dirty="0" err="1">
                <a:solidFill>
                  <a:srgbClr val="3429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advantage</a:t>
            </a:r>
            <a:r>
              <a:rPr lang="en-US" sz="1500" dirty="0">
                <a:solidFill>
                  <a:srgbClr val="3429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11376828" y="5701199"/>
            <a:ext cx="6140513" cy="92462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3" name="Shape 31"/>
          <p:cNvSpPr/>
          <p:nvPr/>
        </p:nvSpPr>
        <p:spPr>
          <a:xfrm>
            <a:off x="11376828" y="5701199"/>
            <a:ext cx="9525" cy="924629"/>
          </a:xfrm>
          <a:prstGeom prst="rect">
            <a:avLst/>
          </a:prstGeom>
          <a:solidFill>
            <a:srgbClr val="EBE0D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4" name="Text 32"/>
          <p:cNvSpPr/>
          <p:nvPr/>
        </p:nvSpPr>
        <p:spPr>
          <a:xfrm>
            <a:off x="11652187" y="5929799"/>
            <a:ext cx="5782669" cy="5055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5A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Transfers cooperation.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-817192" y="7539903"/>
            <a:ext cx="18440399" cy="3847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algn="ctr">
              <a:lnSpc>
                <a:spcPct val="140000"/>
              </a:lnSpc>
            </a:pPr>
            <a:r>
              <a:rPr lang="it-IT" sz="2000" dirty="0"/>
              <a:t>the advantage of the </a:t>
            </a:r>
            <a:r>
              <a:rPr lang="it-IT" sz="2000" dirty="0" err="1"/>
              <a:t>critic</a:t>
            </a:r>
            <a:r>
              <a:rPr lang="it-IT" sz="2000" dirty="0"/>
              <a:t> centralized is </a:t>
            </a:r>
            <a:r>
              <a:rPr lang="it-IT" sz="2000" b="1" dirty="0">
                <a:solidFill>
                  <a:srgbClr val="5A2230"/>
                </a:solidFill>
              </a:rPr>
              <a:t>problem-dependent</a:t>
            </a:r>
            <a:r>
              <a:rPr lang="en-US" sz="1950" b="1" dirty="0">
                <a:solidFill>
                  <a:srgbClr val="5A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950" b="1" dirty="0">
              <a:solidFill>
                <a:srgbClr val="5A2230"/>
              </a:solidFill>
            </a:endParaRPr>
          </a:p>
        </p:txBody>
      </p:sp>
      <p:sp>
        <p:nvSpPr>
          <p:cNvPr id="36" name="Shape 34"/>
          <p:cNvSpPr/>
          <p:nvPr/>
        </p:nvSpPr>
        <p:spPr>
          <a:xfrm>
            <a:off x="762000" y="9514717"/>
            <a:ext cx="16763999" cy="9525"/>
          </a:xfrm>
          <a:prstGeom prst="rect">
            <a:avLst/>
          </a:prstGeom>
          <a:solidFill>
            <a:srgbClr val="E7DDD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7" name="Text 35"/>
          <p:cNvSpPr/>
          <p:nvPr/>
        </p:nvSpPr>
        <p:spPr>
          <a:xfrm>
            <a:off x="762000" y="9656645"/>
            <a:ext cx="3456682" cy="2112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kern="0" spc="45" dirty="0">
                <a:solidFill>
                  <a:srgbClr val="A8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Coordination and generalization in MARL</a:t>
            </a:r>
            <a:endParaRPr lang="en-US" sz="1125" dirty="0"/>
          </a:p>
        </p:txBody>
      </p:sp>
      <p:sp>
        <p:nvSpPr>
          <p:cNvPr id="38" name="Text 36"/>
          <p:cNvSpPr/>
          <p:nvPr/>
        </p:nvSpPr>
        <p:spPr>
          <a:xfrm>
            <a:off x="17367024" y="9660974"/>
            <a:ext cx="235175" cy="2026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A8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12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346"/>
            <a:ext cx="1766292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97" dirty="0">
                <a:solidFill>
                  <a:srgbClr val="7C1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CONCLUSIONS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17329005" y="542005"/>
            <a:ext cx="273194" cy="219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kern="0" spc="120" dirty="0">
                <a:solidFill>
                  <a:srgbClr val="A8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923005"/>
            <a:ext cx="18440399" cy="4572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kern="0" spc="-49" dirty="0">
                <a:solidFill>
                  <a:srgbClr val="221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Conclusions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762000" y="1475428"/>
            <a:ext cx="609519" cy="47625"/>
          </a:xfrm>
          <a:prstGeom prst="roundRect">
            <a:avLst>
              <a:gd name="adj" fmla="val 50000"/>
            </a:avLst>
          </a:prstGeom>
          <a:solidFill>
            <a:srgbClr val="7C1D2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762000" y="1523053"/>
            <a:ext cx="8248595" cy="3862496"/>
          </a:xfrm>
          <a:prstGeom prst="roundRect">
            <a:avLst>
              <a:gd name="adj" fmla="val 3946"/>
            </a:avLst>
          </a:prstGeom>
          <a:solidFill>
            <a:srgbClr val="FFFFFF"/>
          </a:solidFill>
          <a:ln w="8659">
            <a:solidFill>
              <a:srgbClr val="EBE0D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1094428" y="1817462"/>
            <a:ext cx="320008" cy="4323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450" b="1" dirty="0">
                <a:solidFill>
                  <a:srgbClr val="E6D2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450" dirty="0"/>
          </a:p>
        </p:txBody>
      </p:sp>
      <p:sp>
        <p:nvSpPr>
          <p:cNvPr id="8" name="Text 6"/>
          <p:cNvSpPr/>
          <p:nvPr/>
        </p:nvSpPr>
        <p:spPr>
          <a:xfrm>
            <a:off x="1547677" y="1817462"/>
            <a:ext cx="7344405" cy="645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50" dirty="0">
                <a:solidFill>
                  <a:srgbClr val="3429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off-policy method tested </a:t>
            </a:r>
            <a:r>
              <a:rPr lang="en-US" sz="1650" b="1" dirty="0">
                <a:solidFill>
                  <a:srgbClr val="7C1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not suitable </a:t>
            </a:r>
            <a:r>
              <a:rPr lang="en-US" sz="1650" dirty="0">
                <a:solidFill>
                  <a:srgbClr val="3429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our discrete, chaotic environment. Provisional verdict, requires further verification.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9277269" y="1523053"/>
            <a:ext cx="8248731" cy="3862496"/>
          </a:xfrm>
          <a:prstGeom prst="roundRect">
            <a:avLst>
              <a:gd name="adj" fmla="val 3946"/>
            </a:avLst>
          </a:prstGeom>
          <a:solidFill>
            <a:srgbClr val="F4EBE9"/>
          </a:solidFill>
          <a:ln w="8659">
            <a:solidFill>
              <a:srgbClr val="EBE0D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9609697" y="1817462"/>
            <a:ext cx="320008" cy="4323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450" b="1" dirty="0">
                <a:solidFill>
                  <a:srgbClr val="D9A9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450" dirty="0"/>
          </a:p>
        </p:txBody>
      </p:sp>
      <p:sp>
        <p:nvSpPr>
          <p:cNvPr id="11" name="Text 9"/>
          <p:cNvSpPr/>
          <p:nvPr/>
        </p:nvSpPr>
        <p:spPr>
          <a:xfrm>
            <a:off x="10062946" y="1817462"/>
            <a:ext cx="7344545" cy="645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50" dirty="0">
                <a:solidFill>
                  <a:srgbClr val="3429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intersection the centralized critic </a:t>
            </a:r>
            <a:r>
              <a:rPr lang="en-US" sz="1650" b="1" dirty="0">
                <a:solidFill>
                  <a:srgbClr val="7C1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brings no advantage </a:t>
            </a:r>
            <a:r>
              <a:rPr lang="en-US" sz="1650" dirty="0">
                <a:solidFill>
                  <a:srgbClr val="3429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the two on-policy methods are equivalent, IPPO is sufficient.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762000" y="5652221"/>
            <a:ext cx="8248595" cy="3862496"/>
          </a:xfrm>
          <a:prstGeom prst="roundRect">
            <a:avLst>
              <a:gd name="adj" fmla="val 3946"/>
            </a:avLst>
          </a:prstGeom>
          <a:solidFill>
            <a:srgbClr val="F4EBE9"/>
          </a:solidFill>
          <a:ln w="8659">
            <a:solidFill>
              <a:srgbClr val="E6D2D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1094428" y="5946631"/>
            <a:ext cx="320008" cy="4323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450" b="1" dirty="0">
                <a:solidFill>
                  <a:srgbClr val="D9A9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450" dirty="0"/>
          </a:p>
        </p:txBody>
      </p:sp>
      <p:sp>
        <p:nvSpPr>
          <p:cNvPr id="14" name="Text 12"/>
          <p:cNvSpPr/>
          <p:nvPr/>
        </p:nvSpPr>
        <p:spPr>
          <a:xfrm>
            <a:off x="1547677" y="5946631"/>
            <a:ext cx="7344405" cy="645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50" dirty="0">
                <a:solidFill>
                  <a:srgbClr val="3429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MAPPO is </a:t>
            </a:r>
            <a:r>
              <a:rPr lang="en-US" sz="1650" b="1" dirty="0">
                <a:solidFill>
                  <a:srgbClr val="7C1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essential for transferable social behavior </a:t>
            </a:r>
            <a:r>
              <a:rPr lang="en-US" sz="1650" dirty="0">
                <a:solidFill>
                  <a:srgbClr val="3429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the critic teaches a cooperative semantics that generalizes to the roundabout.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9277269" y="5652221"/>
            <a:ext cx="8248731" cy="3862496"/>
          </a:xfrm>
          <a:prstGeom prst="roundRect">
            <a:avLst>
              <a:gd name="adj" fmla="val 3946"/>
            </a:avLst>
          </a:prstGeom>
          <a:solidFill>
            <a:srgbClr val="FFFFFF"/>
          </a:solidFill>
          <a:ln w="8659">
            <a:solidFill>
              <a:srgbClr val="EBE0D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9609697" y="5946631"/>
            <a:ext cx="320008" cy="4323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450" b="1" dirty="0">
                <a:solidFill>
                  <a:srgbClr val="E6D2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450" dirty="0"/>
          </a:p>
        </p:txBody>
      </p:sp>
      <p:sp>
        <p:nvSpPr>
          <p:cNvPr id="17" name="Text 15"/>
          <p:cNvSpPr/>
          <p:nvPr/>
        </p:nvSpPr>
        <p:spPr>
          <a:xfrm>
            <a:off x="10062946" y="5946631"/>
            <a:ext cx="7344545" cy="949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50" dirty="0">
                <a:solidFill>
                  <a:srgbClr val="3429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advantage of the centralized critic emerges </a:t>
            </a:r>
            <a:r>
              <a:rPr lang="en-US" sz="1650" b="1" dirty="0">
                <a:solidFill>
                  <a:srgbClr val="7C1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where cooperation matters </a:t>
            </a:r>
            <a:r>
              <a:rPr lang="en-US" sz="1650" dirty="0">
                <a:solidFill>
                  <a:srgbClr val="3429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The price of decentralization: noisier value estimation in early training.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762000" y="9514717"/>
            <a:ext cx="16763999" cy="9525"/>
          </a:xfrm>
          <a:prstGeom prst="rect">
            <a:avLst/>
          </a:prstGeom>
          <a:solidFill>
            <a:srgbClr val="E7DDD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762000" y="9656645"/>
            <a:ext cx="3456682" cy="2112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kern="0" spc="45" dirty="0">
                <a:solidFill>
                  <a:srgbClr val="A8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Coordination and generalization in MARL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17367024" y="9660974"/>
            <a:ext cx="235175" cy="2026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A8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125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346"/>
            <a:ext cx="788410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97" dirty="0">
                <a:solidFill>
                  <a:srgbClr val="7C1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17308575" y="542005"/>
            <a:ext cx="293624" cy="219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kern="0" spc="120" dirty="0">
                <a:solidFill>
                  <a:srgbClr val="A8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923005"/>
            <a:ext cx="18440399" cy="4572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kern="0" spc="-49" dirty="0">
                <a:solidFill>
                  <a:srgbClr val="221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 in the results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762000" y="1475428"/>
            <a:ext cx="609519" cy="47625"/>
          </a:xfrm>
          <a:prstGeom prst="roundRect">
            <a:avLst>
              <a:gd name="adj" fmla="val 50000"/>
            </a:avLst>
          </a:prstGeom>
          <a:solidFill>
            <a:srgbClr val="7C1D2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762000" y="3957610"/>
            <a:ext cx="5397455" cy="3122549"/>
          </a:xfrm>
          <a:prstGeom prst="roundRect">
            <a:avLst>
              <a:gd name="adj" fmla="val 4881"/>
            </a:avLst>
          </a:prstGeom>
          <a:solidFill>
            <a:srgbClr val="FFFFFF"/>
          </a:solidFill>
          <a:ln w="8659">
            <a:solidFill>
              <a:srgbClr val="EBE0D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1075351" y="4290038"/>
            <a:ext cx="5247828" cy="4277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7C1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1075351" y="4793889"/>
            <a:ext cx="5247828" cy="3065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21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</a:t>
            </a:r>
            <a:r>
              <a:rPr lang="en-US" sz="1800" b="1" dirty="0" err="1">
                <a:solidFill>
                  <a:srgbClr val="221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</a:t>
            </a:r>
            <a:r>
              <a:rPr lang="en-US" b="1" dirty="0" err="1">
                <a:solidFill>
                  <a:srgbClr val="221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the</a:t>
            </a:r>
            <a:r>
              <a:rPr lang="en-US" b="1" dirty="0">
                <a:solidFill>
                  <a:srgbClr val="221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800" b="1" dirty="0" err="1">
                <a:solidFill>
                  <a:srgbClr val="221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MLP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75351" y="5195590"/>
            <a:ext cx="4913876" cy="8665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00" dirty="0">
                <a:solidFill>
                  <a:srgbClr val="3429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Fixed-size, order-sensitive input. Truncating to the k nearest neighbors makes the agent blind beyond k. All density results are constrained by this.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75351" y="6195471"/>
            <a:ext cx="4913876" cy="590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00" b="1" dirty="0">
                <a:solidFill>
                  <a:srgbClr val="5A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a size-invariant and permutation-invariant model is the next step.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45205" y="3957610"/>
            <a:ext cx="5397455" cy="3122549"/>
          </a:xfrm>
          <a:prstGeom prst="roundRect">
            <a:avLst>
              <a:gd name="adj" fmla="val 4881"/>
            </a:avLst>
          </a:prstGeom>
          <a:solidFill>
            <a:srgbClr val="FFFFFF"/>
          </a:solidFill>
          <a:ln w="8659">
            <a:solidFill>
              <a:srgbClr val="EBE0D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6758555" y="4290038"/>
            <a:ext cx="5247828" cy="4277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7C1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6758555" y="4793889"/>
            <a:ext cx="5247828" cy="3065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21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training density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758555" y="5195590"/>
            <a:ext cx="4913876" cy="8665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00" dirty="0">
                <a:solidFill>
                  <a:srgbClr val="3429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always uses 3 agents. A curriculum over the number of agents was explored, but it is not the basis of the final comparison.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2128410" y="3957610"/>
            <a:ext cx="5397455" cy="3122549"/>
          </a:xfrm>
          <a:prstGeom prst="roundRect">
            <a:avLst>
              <a:gd name="adj" fmla="val 4881"/>
            </a:avLst>
          </a:prstGeom>
          <a:solidFill>
            <a:srgbClr val="FFFFFF"/>
          </a:solidFill>
          <a:ln w="8659">
            <a:solidFill>
              <a:srgbClr val="EBE0D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12441760" y="4290038"/>
            <a:ext cx="5247828" cy="4277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7C1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12441760" y="4793889"/>
            <a:ext cx="5247828" cy="3065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21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MASAC not optimized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441760" y="5195590"/>
            <a:ext cx="4913876" cy="8665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00" dirty="0">
                <a:solidFill>
                  <a:srgbClr val="3429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fair verdict on the off-policy method would require a dedicated hyperparameter search. For this reason the judgment remains provisional.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62000" y="9514717"/>
            <a:ext cx="16763999" cy="9525"/>
          </a:xfrm>
          <a:prstGeom prst="rect">
            <a:avLst/>
          </a:prstGeom>
          <a:solidFill>
            <a:srgbClr val="E7DDD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762000" y="9656645"/>
            <a:ext cx="3456682" cy="2112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kern="0" spc="45" dirty="0">
                <a:solidFill>
                  <a:srgbClr val="A8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Coordination and generalization in MARL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17367024" y="9660974"/>
            <a:ext cx="235175" cy="2026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A8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125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346"/>
            <a:ext cx="1661368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97" dirty="0">
                <a:solidFill>
                  <a:srgbClr val="7C1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17303164" y="542005"/>
            <a:ext cx="299036" cy="219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kern="0" spc="120" dirty="0">
                <a:solidFill>
                  <a:srgbClr val="A8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923005"/>
            <a:ext cx="18440399" cy="4572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kern="0" spc="-49" dirty="0">
                <a:solidFill>
                  <a:srgbClr val="221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Essential bibliography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762000" y="1475428"/>
            <a:ext cx="609519" cy="47625"/>
          </a:xfrm>
          <a:prstGeom prst="roundRect">
            <a:avLst>
              <a:gd name="adj" fmla="val 50000"/>
            </a:avLst>
          </a:prstGeom>
          <a:solidFill>
            <a:srgbClr val="7C1D2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762000" y="5108458"/>
            <a:ext cx="16763999" cy="9525"/>
          </a:xfrm>
          <a:prstGeom prst="rect">
            <a:avLst/>
          </a:prstGeom>
          <a:solidFill>
            <a:srgbClr val="E7DDD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762000" y="4197630"/>
            <a:ext cx="590469" cy="3498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7C1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504788" y="4197630"/>
            <a:ext cx="12841336" cy="3722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b="1" dirty="0">
                <a:solidFill>
                  <a:srgbClr val="221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Schröder de Witt et al. -- Is Independent Learning All You Need in the StarCraft Multi-Agent Challenge?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504788" y="4607989"/>
            <a:ext cx="12841336" cy="2718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6E63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arXiv:2011.09533 · 2020</a:t>
            </a:r>
            <a:endParaRPr lang="en-US" sz="1425" dirty="0"/>
          </a:p>
        </p:txBody>
      </p:sp>
      <p:sp>
        <p:nvSpPr>
          <p:cNvPr id="10" name="Text 8"/>
          <p:cNvSpPr/>
          <p:nvPr/>
        </p:nvSpPr>
        <p:spPr>
          <a:xfrm>
            <a:off x="762000" y="5383789"/>
            <a:ext cx="590469" cy="3498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7C1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[2]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504788" y="5383789"/>
            <a:ext cx="10402192" cy="3722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b="1" dirty="0">
                <a:solidFill>
                  <a:srgbClr val="221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Yu et al. -- The Surprising Effectiveness of PPO in Cooperative Multi-Agent Games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504788" y="5794149"/>
            <a:ext cx="10402192" cy="2718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6E63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NeurIPS 2022 · arXiv:2103.01955</a:t>
            </a:r>
            <a:endParaRPr lang="en-US" sz="1425" dirty="0"/>
          </a:p>
        </p:txBody>
      </p:sp>
      <p:sp>
        <p:nvSpPr>
          <p:cNvPr id="14" name="Shape 12"/>
          <p:cNvSpPr/>
          <p:nvPr/>
        </p:nvSpPr>
        <p:spPr>
          <a:xfrm>
            <a:off x="762000" y="9514717"/>
            <a:ext cx="16763999" cy="9525"/>
          </a:xfrm>
          <a:prstGeom prst="rect">
            <a:avLst/>
          </a:prstGeom>
          <a:solidFill>
            <a:srgbClr val="E7DDD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762000" y="9656645"/>
            <a:ext cx="3456682" cy="2112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kern="0" spc="45" dirty="0">
                <a:solidFill>
                  <a:srgbClr val="A8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Coordination and generalization in MARL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17367024" y="9660974"/>
            <a:ext cx="235175" cy="2026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A8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125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346"/>
            <a:ext cx="1644700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97" dirty="0">
                <a:solidFill>
                  <a:srgbClr val="7C1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15146657" y="531219"/>
            <a:ext cx="2220367" cy="219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200" kern="0" spc="120" dirty="0">
                <a:solidFill>
                  <a:srgbClr val="A8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887495" y="1807356"/>
            <a:ext cx="4513010" cy="4513010"/>
          </a:xfrm>
          <a:prstGeom prst="roundRect">
            <a:avLst>
              <a:gd name="adj" fmla="val 3799"/>
            </a:avLst>
          </a:prstGeom>
          <a:solidFill>
            <a:srgbClr val="FFFFFF"/>
          </a:solidFill>
          <a:ln w="8659">
            <a:solidFill>
              <a:srgbClr val="EBE0D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39000" y="2158861"/>
            <a:ext cx="3810000" cy="3810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656832" y="6720227"/>
            <a:ext cx="5312122" cy="3498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221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and materials: GitHub repository</a:t>
            </a:r>
            <a:endParaRPr lang="en-US" sz="2250" dirty="0"/>
          </a:p>
        </p:txBody>
      </p:sp>
      <p:sp>
        <p:nvSpPr>
          <p:cNvPr id="7" name="Text 4"/>
          <p:cNvSpPr/>
          <p:nvPr/>
        </p:nvSpPr>
        <p:spPr>
          <a:xfrm>
            <a:off x="6263635" y="7070054"/>
            <a:ext cx="6336803" cy="34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7C1D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https://github.com/EmGira/Highway-env-MARL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762000" y="9514717"/>
            <a:ext cx="16763999" cy="9525"/>
          </a:xfrm>
          <a:prstGeom prst="rect">
            <a:avLst/>
          </a:prstGeom>
          <a:solidFill>
            <a:srgbClr val="E7DDD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6"/>
          <p:cNvSpPr/>
          <p:nvPr/>
        </p:nvSpPr>
        <p:spPr>
          <a:xfrm>
            <a:off x="762000" y="9656645"/>
            <a:ext cx="3456682" cy="2112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kern="0" spc="45" dirty="0">
                <a:solidFill>
                  <a:srgbClr val="A8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Coordination and generalization in MARL</a:t>
            </a:r>
            <a:endParaRPr lang="en-US" sz="1125" dirty="0"/>
          </a:p>
        </p:txBody>
      </p:sp>
      <p:sp>
        <p:nvSpPr>
          <p:cNvPr id="10" name="Text 7"/>
          <p:cNvSpPr/>
          <p:nvPr/>
        </p:nvSpPr>
        <p:spPr>
          <a:xfrm>
            <a:off x="17367024" y="9660974"/>
            <a:ext cx="235175" cy="2026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A8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125" dirty="0"/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5426FB0E-F527-901F-D0D3-A09701562032}"/>
              </a:ext>
            </a:extLst>
          </p:cNvPr>
          <p:cNvSpPr/>
          <p:nvPr/>
        </p:nvSpPr>
        <p:spPr>
          <a:xfrm>
            <a:off x="510539" y="8551281"/>
            <a:ext cx="17266919" cy="393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7C1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for your attention.</a:t>
            </a:r>
            <a:endParaRPr lang="en-US" sz="2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2095</TotalTime>
  <Words>2023</Words>
  <Application>Microsoft Office PowerPoint</Application>
  <PresentationFormat>Personalizzato</PresentationFormat>
  <Paragraphs>387</Paragraphs>
  <Slides>30</Slides>
  <Notes>30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30</vt:i4>
      </vt:variant>
    </vt:vector>
  </HeadingPairs>
  <TitlesOfParts>
    <vt:vector size="35" baseType="lpstr">
      <vt:lpstr>Aptos</vt:lpstr>
      <vt:lpstr>Arial</vt:lpstr>
      <vt:lpstr>Calibri</vt:lpstr>
      <vt:lpstr>Courier New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EMANUELE GIRARDELLO</cp:lastModifiedBy>
  <cp:revision>111</cp:revision>
  <dcterms:created xsi:type="dcterms:W3CDTF">2026-07-02T09:21:06Z</dcterms:created>
  <dcterms:modified xsi:type="dcterms:W3CDTF">2026-07-12T10:04:44Z</dcterms:modified>
</cp:coreProperties>
</file>